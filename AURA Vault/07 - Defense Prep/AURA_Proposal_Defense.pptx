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1.png"/><Relationship Id="rId5" Type="http://schemas.openxmlformats.org/officeDocument/2006/relationships/image" Target="../media/image-7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5.png"/><Relationship Id="rId6" Type="http://schemas.openxmlformats.org/officeDocument/2006/relationships/image" Target="../media/image-8-5.png"/><Relationship Id="rId7" Type="http://schemas.openxmlformats.org/officeDocument/2006/relationships/image" Target="../media/image-8-5.png"/><Relationship Id="rId8" Type="http://schemas.openxmlformats.org/officeDocument/2006/relationships/image" Target="../media/image-8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300" kern="0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PROPOSAL DEFENSE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10048" y="1417320"/>
            <a:ext cx="1371600" cy="13716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" name="Image 0" descr="/tmp/aura_ppt/icons/FaRobot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8356" y="1595628"/>
            <a:ext cx="1014984" cy="1014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88036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AURA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0" y="38404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AI-Based Autonomous Wall Painting Robot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0" y="470916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Manabat, Kurt Robyn A.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0" y="5120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David, Reymon Jr G.   •   Usi, Lester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0" y="58064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Holy Angel University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0" y="6199632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School of Engineering and Architecture   •   March 29, 2026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042855" y="2926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 / 18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2577008" cy="4160520"/>
          </a:xfrm>
          <a:prstGeom prst="roundRect">
            <a:avLst>
              <a:gd name="adj" fmla="val 3548"/>
            </a:avLst>
          </a:prstGeom>
          <a:solidFill>
            <a:srgbClr val="2A2F37"/>
          </a:solidFill>
          <a:ln/>
        </p:spPr>
      </p:sp>
      <p:sp>
        <p:nvSpPr>
          <p:cNvPr id="6" name="Shape 4"/>
          <p:cNvSpPr/>
          <p:nvPr/>
        </p:nvSpPr>
        <p:spPr>
          <a:xfrm>
            <a:off x="1402804" y="2148840"/>
            <a:ext cx="777240" cy="77724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7" name="Image 0" descr="/tmp/aura_ppt/icons/FaRegClock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3845" y="2249881"/>
            <a:ext cx="575158" cy="5751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00400"/>
            <a:ext cx="2302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Labor-Intensive &amp; Slow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40080" y="4709160"/>
            <a:ext cx="2302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painting takes days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3372536" y="1828800"/>
            <a:ext cx="2577008" cy="4160520"/>
          </a:xfrm>
          <a:prstGeom prst="roundRect">
            <a:avLst>
              <a:gd name="adj" fmla="val 3548"/>
            </a:avLst>
          </a:prstGeom>
          <a:solidFill>
            <a:srgbClr val="2A2F37"/>
          </a:solidFill>
          <a:ln/>
        </p:spPr>
      </p:sp>
      <p:sp>
        <p:nvSpPr>
          <p:cNvPr id="11" name="Shape 8"/>
          <p:cNvSpPr/>
          <p:nvPr/>
        </p:nvSpPr>
        <p:spPr>
          <a:xfrm>
            <a:off x="4272420" y="2148840"/>
            <a:ext cx="777240" cy="77724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12" name="Image 1" descr="/tmp/aura_ppt/icons/FaShield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461" y="2249881"/>
            <a:ext cx="575158" cy="5751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09696" y="3200400"/>
            <a:ext cx="2302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Safety Risks at Height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3509696" y="4709160"/>
            <a:ext cx="2302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Ladders &amp; scaffolding hazards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6242152" y="1828800"/>
            <a:ext cx="2577008" cy="4160520"/>
          </a:xfrm>
          <a:prstGeom prst="roundRect">
            <a:avLst>
              <a:gd name="adj" fmla="val 3548"/>
            </a:avLst>
          </a:prstGeom>
          <a:solidFill>
            <a:srgbClr val="2A2F37"/>
          </a:solidFill>
          <a:ln/>
        </p:spPr>
      </p:sp>
      <p:sp>
        <p:nvSpPr>
          <p:cNvPr id="16" name="Shape 12"/>
          <p:cNvSpPr/>
          <p:nvPr/>
        </p:nvSpPr>
        <p:spPr>
          <a:xfrm>
            <a:off x="7142035" y="2148840"/>
            <a:ext cx="777240" cy="77724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17" name="Image 2" descr="/tmp/aura_ppt/icons/FaUsers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3077" y="2249881"/>
            <a:ext cx="575158" cy="57515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79312" y="3200400"/>
            <a:ext cx="2302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Inconsistent Finish Quality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6379312" y="4709160"/>
            <a:ext cx="2302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Quality varies by painter</a:t>
            </a:r>
            <a:endParaRPr lang="en-US" sz="2400" dirty="0"/>
          </a:p>
        </p:txBody>
      </p:sp>
      <p:sp>
        <p:nvSpPr>
          <p:cNvPr id="20" name="Shape 15"/>
          <p:cNvSpPr/>
          <p:nvPr/>
        </p:nvSpPr>
        <p:spPr>
          <a:xfrm>
            <a:off x="9111767" y="1828800"/>
            <a:ext cx="2577008" cy="4160520"/>
          </a:xfrm>
          <a:prstGeom prst="roundRect">
            <a:avLst>
              <a:gd name="adj" fmla="val 3548"/>
            </a:avLst>
          </a:prstGeom>
          <a:solidFill>
            <a:srgbClr val="2A2F37"/>
          </a:solidFill>
          <a:ln/>
        </p:spPr>
      </p:sp>
      <p:sp>
        <p:nvSpPr>
          <p:cNvPr id="21" name="Shape 16"/>
          <p:cNvSpPr/>
          <p:nvPr/>
        </p:nvSpPr>
        <p:spPr>
          <a:xfrm>
            <a:off x="10011651" y="2148840"/>
            <a:ext cx="777240" cy="77724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22" name="Image 3" descr="/tmp/aura_ppt/icons/FaCoins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2693" y="2249881"/>
            <a:ext cx="575158" cy="57515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48927" y="3200400"/>
            <a:ext cx="230268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Rising Labor Costs</a:t>
            </a:r>
            <a:endParaRPr lang="en-US" sz="2400" dirty="0"/>
          </a:p>
        </p:txBody>
      </p:sp>
      <p:sp>
        <p:nvSpPr>
          <p:cNvPr id="24" name="Text 18"/>
          <p:cNvSpPr/>
          <p:nvPr/>
        </p:nvSpPr>
        <p:spPr>
          <a:xfrm>
            <a:off x="9248927" y="4709160"/>
            <a:ext cx="23026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Painters are costly, scarce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042855" y="2926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 / 18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Related Work — Painting Robots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410048" cy="3017520"/>
          </a:xfrm>
          <a:prstGeom prst="roundRect">
            <a:avLst>
              <a:gd name="adj" fmla="val 3030"/>
            </a:avLst>
          </a:prstGeom>
          <a:solidFill>
            <a:srgbClr val="2A2F3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03120"/>
            <a:ext cx="731520" cy="73152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7" name="Image 0" descr="/tmp/aura_ppt/icons/FaRobot_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338" y="2198218"/>
            <a:ext cx="541325" cy="5413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103120"/>
            <a:ext cx="3992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Kumtole et al. (2022)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22960" y="3063240"/>
            <a:ext cx="476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Mobile robot, preset paths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22960" y="3886200"/>
            <a:ext cx="476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adaptive vision system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6278728" y="1828800"/>
            <a:ext cx="5410048" cy="3017520"/>
          </a:xfrm>
          <a:prstGeom prst="roundRect">
            <a:avLst>
              <a:gd name="adj" fmla="val 3030"/>
            </a:avLst>
          </a:prstGeom>
          <a:solidFill>
            <a:srgbClr val="2A2F37"/>
          </a:solidFill>
          <a:ln/>
        </p:spPr>
      </p:sp>
      <p:sp>
        <p:nvSpPr>
          <p:cNvPr id="12" name="Shape 9"/>
          <p:cNvSpPr/>
          <p:nvPr/>
        </p:nvSpPr>
        <p:spPr>
          <a:xfrm>
            <a:off x="6553048" y="2103120"/>
            <a:ext cx="731520" cy="73152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13" name="Image 1" descr="/tmp/aura_ppt/icons/FaRobot_t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145" y="2198218"/>
            <a:ext cx="541325" cy="5413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67448" y="2103120"/>
            <a:ext cx="3992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Patil et al. (2021)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6598768" y="3063240"/>
            <a:ext cx="476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Gantry-based wall painter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6598768" y="3886200"/>
            <a:ext cx="476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Limited surface generalization</a:t>
            </a:r>
            <a:endParaRPr lang="en-US" sz="2400" dirty="0"/>
          </a:p>
        </p:txBody>
      </p:sp>
      <p:sp>
        <p:nvSpPr>
          <p:cNvPr id="17" name="Shape 13"/>
          <p:cNvSpPr/>
          <p:nvPr/>
        </p:nvSpPr>
        <p:spPr>
          <a:xfrm>
            <a:off x="502920" y="5166360"/>
            <a:ext cx="11185855" cy="914400"/>
          </a:xfrm>
          <a:prstGeom prst="roundRect">
            <a:avLst>
              <a:gd name="adj" fmla="val 10000"/>
            </a:avLst>
          </a:prstGeom>
          <a:solidFill>
            <a:srgbClr val="8A7420"/>
          </a:solidFill>
          <a:ln/>
        </p:spPr>
      </p:sp>
      <p:sp>
        <p:nvSpPr>
          <p:cNvPr id="18" name="Text 14"/>
          <p:cNvSpPr/>
          <p:nvPr/>
        </p:nvSpPr>
        <p:spPr>
          <a:xfrm>
            <a:off x="822960" y="51663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GAP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3794760" y="5166360"/>
            <a:ext cx="7619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vision-guided adaptive control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042855" y="2926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 / 18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Related Work — Spray Systems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410048" cy="3017520"/>
          </a:xfrm>
          <a:prstGeom prst="roundRect">
            <a:avLst>
              <a:gd name="adj" fmla="val 3030"/>
            </a:avLst>
          </a:prstGeom>
          <a:solidFill>
            <a:srgbClr val="2A2F3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03120"/>
            <a:ext cx="731520" cy="73152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7" name="Image 0" descr="/tmp/aura_ppt/icons/FaSprayCan_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338" y="2198218"/>
            <a:ext cx="541325" cy="5413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103120"/>
            <a:ext cx="3992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Rudzuan et al. (2019)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22960" y="3063240"/>
            <a:ext cx="476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Solenoid spray modulation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22960" y="3886200"/>
            <a:ext cx="476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Improved droplet consistency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6278728" y="1828800"/>
            <a:ext cx="5410048" cy="3017520"/>
          </a:xfrm>
          <a:prstGeom prst="roundRect">
            <a:avLst>
              <a:gd name="adj" fmla="val 3030"/>
            </a:avLst>
          </a:prstGeom>
          <a:solidFill>
            <a:srgbClr val="2A2F37"/>
          </a:solidFill>
          <a:ln/>
        </p:spPr>
      </p:sp>
      <p:sp>
        <p:nvSpPr>
          <p:cNvPr id="12" name="Shape 9"/>
          <p:cNvSpPr/>
          <p:nvPr/>
        </p:nvSpPr>
        <p:spPr>
          <a:xfrm>
            <a:off x="6553048" y="2103120"/>
            <a:ext cx="731520" cy="73152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13" name="Image 1" descr="/tmp/aura_ppt/icons/FaSprayCan_t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145" y="2198218"/>
            <a:ext cx="541325" cy="5413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67448" y="2103120"/>
            <a:ext cx="3992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Tawade et al. (2024)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6598768" y="3063240"/>
            <a:ext cx="476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Automated spray-pattern control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6598768" y="3886200"/>
            <a:ext cx="476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Reduced paint overspray</a:t>
            </a:r>
            <a:endParaRPr lang="en-US" sz="2400" dirty="0"/>
          </a:p>
        </p:txBody>
      </p:sp>
      <p:sp>
        <p:nvSpPr>
          <p:cNvPr id="17" name="Shape 13"/>
          <p:cNvSpPr/>
          <p:nvPr/>
        </p:nvSpPr>
        <p:spPr>
          <a:xfrm>
            <a:off x="502920" y="5166360"/>
            <a:ext cx="11185855" cy="914400"/>
          </a:xfrm>
          <a:prstGeom prst="roundRect">
            <a:avLst>
              <a:gd name="adj" fmla="val 10000"/>
            </a:avLst>
          </a:prstGeom>
          <a:solidFill>
            <a:srgbClr val="8A7420"/>
          </a:solidFill>
          <a:ln/>
        </p:spPr>
      </p:sp>
      <p:sp>
        <p:nvSpPr>
          <p:cNvPr id="18" name="Text 14"/>
          <p:cNvSpPr/>
          <p:nvPr/>
        </p:nvSpPr>
        <p:spPr>
          <a:xfrm>
            <a:off x="822960" y="51663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GAP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3794760" y="5166360"/>
            <a:ext cx="7619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Spray control not vision-linked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042855" y="2926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 / 18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Related Work — AI &amp; Vision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410048" cy="3017520"/>
          </a:xfrm>
          <a:prstGeom prst="roundRect">
            <a:avLst>
              <a:gd name="adj" fmla="val 3030"/>
            </a:avLst>
          </a:prstGeom>
          <a:solidFill>
            <a:srgbClr val="2A2F3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03120"/>
            <a:ext cx="731520" cy="73152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7" name="Image 0" descr="/tmp/aura_ppt/icons/FaBrain_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338" y="2198218"/>
            <a:ext cx="541325" cy="5413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103120"/>
            <a:ext cx="3992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Bjekic et al. (2023)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822960" y="3063240"/>
            <a:ext cx="476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Deep-learning scene segmentation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822960" y="3886200"/>
            <a:ext cx="476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 boundary-detection accuracy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6278728" y="1828800"/>
            <a:ext cx="5410048" cy="3017520"/>
          </a:xfrm>
          <a:prstGeom prst="roundRect">
            <a:avLst>
              <a:gd name="adj" fmla="val 3030"/>
            </a:avLst>
          </a:prstGeom>
          <a:solidFill>
            <a:srgbClr val="2A2F37"/>
          </a:solidFill>
          <a:ln/>
        </p:spPr>
      </p:sp>
      <p:sp>
        <p:nvSpPr>
          <p:cNvPr id="12" name="Shape 9"/>
          <p:cNvSpPr/>
          <p:nvPr/>
        </p:nvSpPr>
        <p:spPr>
          <a:xfrm>
            <a:off x="6553048" y="2103120"/>
            <a:ext cx="731520" cy="73152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13" name="Image 1" descr="/tmp/aura_ppt/icons/FaBrain_tex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145" y="2198218"/>
            <a:ext cx="541325" cy="5413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67448" y="2103120"/>
            <a:ext cx="3992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Liu &amp; Cheng (2024)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6598768" y="3063240"/>
            <a:ext cx="476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YOLO real-time detection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6598768" y="3886200"/>
            <a:ext cx="476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Fast, lightweight inference</a:t>
            </a:r>
            <a:endParaRPr lang="en-US" sz="2400" dirty="0"/>
          </a:p>
        </p:txBody>
      </p:sp>
      <p:sp>
        <p:nvSpPr>
          <p:cNvPr id="17" name="Shape 13"/>
          <p:cNvSpPr/>
          <p:nvPr/>
        </p:nvSpPr>
        <p:spPr>
          <a:xfrm>
            <a:off x="502920" y="5166360"/>
            <a:ext cx="11185855" cy="914400"/>
          </a:xfrm>
          <a:prstGeom prst="roundRect">
            <a:avLst>
              <a:gd name="adj" fmla="val 10000"/>
            </a:avLst>
          </a:prstGeom>
          <a:solidFill>
            <a:srgbClr val="8A7420"/>
          </a:solidFill>
          <a:ln/>
        </p:spPr>
      </p:sp>
      <p:sp>
        <p:nvSpPr>
          <p:cNvPr id="18" name="Text 14"/>
          <p:cNvSpPr/>
          <p:nvPr/>
        </p:nvSpPr>
        <p:spPr>
          <a:xfrm>
            <a:off x="822960" y="51663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GAP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3794760" y="5166360"/>
            <a:ext cx="7619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 yet linked to spray robots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042855" y="2926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 / 18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Questions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11185855" cy="594360"/>
          </a:xfrm>
          <a:prstGeom prst="roundRect">
            <a:avLst>
              <a:gd name="adj" fmla="val 15385"/>
            </a:avLst>
          </a:prstGeom>
          <a:solidFill>
            <a:srgbClr val="2A2F37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952244"/>
            <a:ext cx="438912" cy="43891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522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1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25880" y="1874520"/>
            <a:ext cx="101800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accurate is YOLOv8 wall segmentation?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02920" y="2606040"/>
            <a:ext cx="11185855" cy="594360"/>
          </a:xfrm>
          <a:prstGeom prst="roundRect">
            <a:avLst>
              <a:gd name="adj" fmla="val 15385"/>
            </a:avLst>
          </a:prstGeom>
          <a:solidFill>
            <a:srgbClr val="2A2F37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2683764"/>
            <a:ext cx="438912" cy="43891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6837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1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25880" y="2606040"/>
            <a:ext cx="101800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precise is gantry motion control?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02920" y="3337560"/>
            <a:ext cx="11185855" cy="594360"/>
          </a:xfrm>
          <a:prstGeom prst="roundRect">
            <a:avLst>
              <a:gd name="adj" fmla="val 15385"/>
            </a:avLst>
          </a:prstGeom>
          <a:solidFill>
            <a:srgbClr val="2A2F37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3415284"/>
            <a:ext cx="438912" cy="43891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4152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1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25880" y="3337560"/>
            <a:ext cx="101800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accurate is homography calibration?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02920" y="4069080"/>
            <a:ext cx="11185855" cy="594360"/>
          </a:xfrm>
          <a:prstGeom prst="roundRect">
            <a:avLst>
              <a:gd name="adj" fmla="val 15385"/>
            </a:avLst>
          </a:prstGeom>
          <a:solidFill>
            <a:srgbClr val="2A2F37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4146804"/>
            <a:ext cx="438912" cy="43891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1468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1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325880" y="4069080"/>
            <a:ext cx="101800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reliably are Arduino commands executed?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502920" y="4800600"/>
            <a:ext cx="11185855" cy="594360"/>
          </a:xfrm>
          <a:prstGeom prst="roundRect">
            <a:avLst>
              <a:gd name="adj" fmla="val 15385"/>
            </a:avLst>
          </a:prstGeom>
          <a:solidFill>
            <a:srgbClr val="2A2F37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4878324"/>
            <a:ext cx="438912" cy="43891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8783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1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325880" y="4800600"/>
            <a:ext cx="101800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well-rated is AI color recommendation?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502920" y="5532120"/>
            <a:ext cx="11185855" cy="594360"/>
          </a:xfrm>
          <a:prstGeom prst="roundRect">
            <a:avLst>
              <a:gd name="adj" fmla="val 15385"/>
            </a:avLst>
          </a:prstGeom>
          <a:solidFill>
            <a:srgbClr val="2A2F37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5609844"/>
            <a:ext cx="438912" cy="43891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56098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1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325880" y="5532120"/>
            <a:ext cx="101800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effective is overall system performance?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042855" y="2926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 / 18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General Objectives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11185855" cy="1234440"/>
          </a:xfrm>
          <a:prstGeom prst="roundRect">
            <a:avLst>
              <a:gd name="adj" fmla="val 7407"/>
            </a:avLst>
          </a:prstGeom>
          <a:solidFill>
            <a:srgbClr val="333A4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GENERAL OBJECTIVE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and evaluate the AURA robot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341071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9" name="Image 0" descr="/tmp/aura_ppt/icons/FaCheck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" y="3470148"/>
            <a:ext cx="338328" cy="33832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3337560"/>
            <a:ext cx="10500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 YOLOv8 segmentation pipeline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02920" y="412394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2" name="Image 1" descr="/tmp/aura_ppt/icons/FaCheck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" y="4183380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4050792"/>
            <a:ext cx="10500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precision XY gantry system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502920" y="4837176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5" name="Image 2" descr="/tmp/aura_ppt/icons/FaCheck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" y="4896612"/>
            <a:ext cx="338328" cy="3383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4764024"/>
            <a:ext cx="10500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 adaptive spray control</a:t>
            </a:r>
            <a:endParaRPr lang="en-US" sz="2400" dirty="0"/>
          </a:p>
        </p:txBody>
      </p:sp>
      <p:sp>
        <p:nvSpPr>
          <p:cNvPr id="17" name="Shape 12"/>
          <p:cNvSpPr/>
          <p:nvPr/>
        </p:nvSpPr>
        <p:spPr>
          <a:xfrm>
            <a:off x="502920" y="555040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8" name="Image 3" descr="/tmp/aura_ppt/icons/FaCheck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" y="5609844"/>
            <a:ext cx="338328" cy="33832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5477256"/>
            <a:ext cx="10500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AI color-recommendation module</a:t>
            </a:r>
            <a:endParaRPr lang="en-US" sz="2400" dirty="0"/>
          </a:p>
        </p:txBody>
      </p:sp>
      <p:sp>
        <p:nvSpPr>
          <p:cNvPr id="20" name="Shape 14"/>
          <p:cNvSpPr/>
          <p:nvPr/>
        </p:nvSpPr>
        <p:spPr>
          <a:xfrm>
            <a:off x="502920" y="6263640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1" name="Image 4" descr="/tmp/aura_ppt/icons/FaCheck_da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" y="6323076"/>
            <a:ext cx="338328" cy="33832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88720" y="6190488"/>
            <a:ext cx="10500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Evaluate system performance metrics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042855" y="2926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 / 18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Scope &amp; Delimitations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41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SCOPE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2286000"/>
            <a:ext cx="5410048" cy="896112"/>
          </a:xfrm>
          <a:prstGeom prst="roundRect">
            <a:avLst>
              <a:gd name="adj" fmla="val 10204"/>
            </a:avLst>
          </a:prstGeom>
          <a:solidFill>
            <a:srgbClr val="2A2F37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482596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8" name="Image 0" descr="/tmp/aura_ppt/icons/FaCheck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900" y="2547976"/>
            <a:ext cx="372161" cy="37216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2286000"/>
            <a:ext cx="42670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Interior flat wall surfaces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02920" y="3328416"/>
            <a:ext cx="5410048" cy="896112"/>
          </a:xfrm>
          <a:prstGeom prst="roundRect">
            <a:avLst>
              <a:gd name="adj" fmla="val 10204"/>
            </a:avLst>
          </a:prstGeom>
          <a:solidFill>
            <a:srgbClr val="2A2F37"/>
          </a:solidFill>
          <a:ln/>
        </p:spPr>
      </p:sp>
      <p:sp>
        <p:nvSpPr>
          <p:cNvPr id="11" name="Shape 8"/>
          <p:cNvSpPr/>
          <p:nvPr/>
        </p:nvSpPr>
        <p:spPr>
          <a:xfrm>
            <a:off x="731520" y="3525012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2" name="Image 1" descr="/tmp/aura_ppt/icons/FaCheck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00" y="3590392"/>
            <a:ext cx="372161" cy="3721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17320" y="3328416"/>
            <a:ext cx="42670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YOLOv8-based segmentation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502920" y="4370832"/>
            <a:ext cx="5410048" cy="896112"/>
          </a:xfrm>
          <a:prstGeom prst="roundRect">
            <a:avLst>
              <a:gd name="adj" fmla="val 10204"/>
            </a:avLst>
          </a:prstGeom>
          <a:solidFill>
            <a:srgbClr val="2A2F37"/>
          </a:solidFill>
          <a:ln/>
        </p:spPr>
      </p:sp>
      <p:sp>
        <p:nvSpPr>
          <p:cNvPr id="15" name="Shape 11"/>
          <p:cNvSpPr/>
          <p:nvPr/>
        </p:nvSpPr>
        <p:spPr>
          <a:xfrm>
            <a:off x="731520" y="4567428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6" name="Image 2" descr="/tmp/aura_ppt/icons/FaCheck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00" y="4632808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4370832"/>
            <a:ext cx="42670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Gantry-based motion &amp; spray</a:t>
            </a:r>
            <a:endParaRPr lang="en-US" sz="2400" dirty="0"/>
          </a:p>
        </p:txBody>
      </p:sp>
      <p:sp>
        <p:nvSpPr>
          <p:cNvPr id="18" name="Shape 13"/>
          <p:cNvSpPr/>
          <p:nvPr/>
        </p:nvSpPr>
        <p:spPr>
          <a:xfrm>
            <a:off x="502920" y="5413248"/>
            <a:ext cx="5410048" cy="896112"/>
          </a:xfrm>
          <a:prstGeom prst="roundRect">
            <a:avLst>
              <a:gd name="adj" fmla="val 10204"/>
            </a:avLst>
          </a:prstGeom>
          <a:solidFill>
            <a:srgbClr val="2A2F37"/>
          </a:solidFill>
          <a:ln/>
        </p:spPr>
      </p:sp>
      <p:sp>
        <p:nvSpPr>
          <p:cNvPr id="19" name="Shape 14"/>
          <p:cNvSpPr/>
          <p:nvPr/>
        </p:nvSpPr>
        <p:spPr>
          <a:xfrm>
            <a:off x="731520" y="5609844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0" name="Image 3" descr="/tmp/aura_ppt/icons/FaCheck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900" y="5675224"/>
            <a:ext cx="372161" cy="37216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5413248"/>
            <a:ext cx="42670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Palette-based color recommendation</a:t>
            </a:r>
            <a:endParaRPr lang="en-US" sz="2400" dirty="0"/>
          </a:p>
        </p:txBody>
      </p:sp>
      <p:sp>
        <p:nvSpPr>
          <p:cNvPr id="22" name="Text 16"/>
          <p:cNvSpPr/>
          <p:nvPr/>
        </p:nvSpPr>
        <p:spPr>
          <a:xfrm>
            <a:off x="6278728" y="1783080"/>
            <a:ext cx="541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C055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 OF SCOPE</a:t>
            </a:r>
            <a:endParaRPr lang="en-US" sz="2400" dirty="0"/>
          </a:p>
        </p:txBody>
      </p:sp>
      <p:sp>
        <p:nvSpPr>
          <p:cNvPr id="23" name="Shape 17"/>
          <p:cNvSpPr/>
          <p:nvPr/>
        </p:nvSpPr>
        <p:spPr>
          <a:xfrm>
            <a:off x="6278728" y="2286000"/>
            <a:ext cx="5410048" cy="896112"/>
          </a:xfrm>
          <a:prstGeom prst="roundRect">
            <a:avLst>
              <a:gd name="adj" fmla="val 10204"/>
            </a:avLst>
          </a:prstGeom>
          <a:solidFill>
            <a:srgbClr val="2A2F37"/>
          </a:solidFill>
          <a:ln/>
        </p:spPr>
      </p:sp>
      <p:sp>
        <p:nvSpPr>
          <p:cNvPr id="24" name="Shape 18"/>
          <p:cNvSpPr/>
          <p:nvPr/>
        </p:nvSpPr>
        <p:spPr>
          <a:xfrm>
            <a:off x="6507328" y="2482596"/>
            <a:ext cx="502920" cy="502920"/>
          </a:xfrm>
          <a:prstGeom prst="ellipse">
            <a:avLst/>
          </a:prstGeom>
          <a:solidFill>
            <a:srgbClr val="C0555A"/>
          </a:solidFill>
          <a:ln/>
        </p:spPr>
      </p:sp>
      <p:pic>
        <p:nvPicPr>
          <p:cNvPr id="25" name="Image 4" descr="/tmp/aura_ppt/icons/FaXmark_tex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707" y="2547976"/>
            <a:ext cx="372161" cy="37216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193128" y="2286000"/>
            <a:ext cx="42670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Exterior / textured surfaces</a:t>
            </a:r>
            <a:endParaRPr lang="en-US" sz="2400" dirty="0"/>
          </a:p>
        </p:txBody>
      </p:sp>
      <p:sp>
        <p:nvSpPr>
          <p:cNvPr id="27" name="Shape 20"/>
          <p:cNvSpPr/>
          <p:nvPr/>
        </p:nvSpPr>
        <p:spPr>
          <a:xfrm>
            <a:off x="6278728" y="3328416"/>
            <a:ext cx="5410048" cy="896112"/>
          </a:xfrm>
          <a:prstGeom prst="roundRect">
            <a:avLst>
              <a:gd name="adj" fmla="val 10204"/>
            </a:avLst>
          </a:prstGeom>
          <a:solidFill>
            <a:srgbClr val="2A2F37"/>
          </a:solidFill>
          <a:ln/>
        </p:spPr>
      </p:sp>
      <p:sp>
        <p:nvSpPr>
          <p:cNvPr id="28" name="Shape 21"/>
          <p:cNvSpPr/>
          <p:nvPr/>
        </p:nvSpPr>
        <p:spPr>
          <a:xfrm>
            <a:off x="6507328" y="3525012"/>
            <a:ext cx="502920" cy="502920"/>
          </a:xfrm>
          <a:prstGeom prst="ellipse">
            <a:avLst/>
          </a:prstGeom>
          <a:solidFill>
            <a:srgbClr val="C0555A"/>
          </a:solidFill>
          <a:ln/>
        </p:spPr>
      </p:sp>
      <p:pic>
        <p:nvPicPr>
          <p:cNvPr id="29" name="Image 5" descr="/tmp/aura_ppt/icons/FaXmark_tex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707" y="3590392"/>
            <a:ext cx="372161" cy="372161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193128" y="3328416"/>
            <a:ext cx="42670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Mobile autonomous navigation</a:t>
            </a:r>
            <a:endParaRPr lang="en-US" sz="2400" dirty="0"/>
          </a:p>
        </p:txBody>
      </p:sp>
      <p:sp>
        <p:nvSpPr>
          <p:cNvPr id="31" name="Shape 23"/>
          <p:cNvSpPr/>
          <p:nvPr/>
        </p:nvSpPr>
        <p:spPr>
          <a:xfrm>
            <a:off x="6278728" y="4370832"/>
            <a:ext cx="5410048" cy="896112"/>
          </a:xfrm>
          <a:prstGeom prst="roundRect">
            <a:avLst>
              <a:gd name="adj" fmla="val 10204"/>
            </a:avLst>
          </a:prstGeom>
          <a:solidFill>
            <a:srgbClr val="2A2F37"/>
          </a:solidFill>
          <a:ln/>
        </p:spPr>
      </p:sp>
      <p:sp>
        <p:nvSpPr>
          <p:cNvPr id="32" name="Shape 24"/>
          <p:cNvSpPr/>
          <p:nvPr/>
        </p:nvSpPr>
        <p:spPr>
          <a:xfrm>
            <a:off x="6507328" y="4567428"/>
            <a:ext cx="502920" cy="502920"/>
          </a:xfrm>
          <a:prstGeom prst="ellipse">
            <a:avLst/>
          </a:prstGeom>
          <a:solidFill>
            <a:srgbClr val="C0555A"/>
          </a:solidFill>
          <a:ln/>
        </p:spPr>
      </p:sp>
      <p:pic>
        <p:nvPicPr>
          <p:cNvPr id="33" name="Image 6" descr="/tmp/aura_ppt/icons/FaXmark_tex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707" y="4632808"/>
            <a:ext cx="372161" cy="372161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193128" y="4370832"/>
            <a:ext cx="42670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Color-reproduction accuracy</a:t>
            </a:r>
            <a:endParaRPr lang="en-US" sz="2400" dirty="0"/>
          </a:p>
        </p:txBody>
      </p:sp>
      <p:sp>
        <p:nvSpPr>
          <p:cNvPr id="35" name="Shape 26"/>
          <p:cNvSpPr/>
          <p:nvPr/>
        </p:nvSpPr>
        <p:spPr>
          <a:xfrm>
            <a:off x="6278728" y="5413248"/>
            <a:ext cx="5410048" cy="896112"/>
          </a:xfrm>
          <a:prstGeom prst="roundRect">
            <a:avLst>
              <a:gd name="adj" fmla="val 10204"/>
            </a:avLst>
          </a:prstGeom>
          <a:solidFill>
            <a:srgbClr val="2A2F37"/>
          </a:solidFill>
          <a:ln/>
        </p:spPr>
      </p:sp>
      <p:sp>
        <p:nvSpPr>
          <p:cNvPr id="36" name="Shape 27"/>
          <p:cNvSpPr/>
          <p:nvPr/>
        </p:nvSpPr>
        <p:spPr>
          <a:xfrm>
            <a:off x="6507328" y="5609844"/>
            <a:ext cx="502920" cy="502920"/>
          </a:xfrm>
          <a:prstGeom prst="ellipse">
            <a:avLst/>
          </a:prstGeom>
          <a:solidFill>
            <a:srgbClr val="C0555A"/>
          </a:solidFill>
          <a:ln/>
        </p:spPr>
      </p:sp>
      <p:pic>
        <p:nvPicPr>
          <p:cNvPr id="37" name="Image 7" descr="/tmp/aura_ppt/icons/FaXmark_tex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707" y="5675224"/>
            <a:ext cx="372161" cy="372161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7193128" y="5413248"/>
            <a:ext cx="42670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Multi-robot coordination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042855" y="2926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 / 18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Triple Bottom Line Impact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515258" cy="4160520"/>
          </a:xfrm>
          <a:prstGeom prst="roundRect">
            <a:avLst>
              <a:gd name="adj" fmla="val 2601"/>
            </a:avLst>
          </a:prstGeom>
          <a:solidFill>
            <a:srgbClr val="2A2F37"/>
          </a:solidFill>
          <a:ln/>
        </p:spPr>
      </p:sp>
      <p:sp>
        <p:nvSpPr>
          <p:cNvPr id="6" name="Shape 4"/>
          <p:cNvSpPr/>
          <p:nvPr/>
        </p:nvSpPr>
        <p:spPr>
          <a:xfrm>
            <a:off x="1849069" y="2194560"/>
            <a:ext cx="822960" cy="82296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7" name="Image 0" descr="/tmp/aura_ppt/icons/FaCoins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6054" y="2301545"/>
            <a:ext cx="608990" cy="6089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46120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Economic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40080" y="3886200"/>
            <a:ext cx="32409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Lower labor &amp; rework costs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1529029" y="521208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8A7420"/>
          </a:solidFill>
          <a:ln/>
        </p:spPr>
      </p:sp>
      <p:sp>
        <p:nvSpPr>
          <p:cNvPr id="11" name="Text 8"/>
          <p:cNvSpPr/>
          <p:nvPr/>
        </p:nvSpPr>
        <p:spPr>
          <a:xfrm>
            <a:off x="1529029" y="5212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SDG 9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4338218" y="1828800"/>
            <a:ext cx="3515258" cy="4160520"/>
          </a:xfrm>
          <a:prstGeom prst="roundRect">
            <a:avLst>
              <a:gd name="adj" fmla="val 2601"/>
            </a:avLst>
          </a:prstGeom>
          <a:solidFill>
            <a:srgbClr val="2A2F37"/>
          </a:solidFill>
          <a:ln/>
        </p:spPr>
      </p:sp>
      <p:sp>
        <p:nvSpPr>
          <p:cNvPr id="13" name="Shape 10"/>
          <p:cNvSpPr/>
          <p:nvPr/>
        </p:nvSpPr>
        <p:spPr>
          <a:xfrm>
            <a:off x="5684368" y="2194560"/>
            <a:ext cx="822960" cy="82296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14" name="Image 1" descr="/tmp/aura_ppt/icons/FaHandshake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352" y="2301545"/>
            <a:ext cx="608990" cy="60899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75378" y="3246120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Social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4475378" y="3886200"/>
            <a:ext cx="32409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Safer working conditions</a:t>
            </a:r>
            <a:endParaRPr lang="en-US" sz="2400" dirty="0"/>
          </a:p>
        </p:txBody>
      </p:sp>
      <p:sp>
        <p:nvSpPr>
          <p:cNvPr id="17" name="Shape 13"/>
          <p:cNvSpPr/>
          <p:nvPr/>
        </p:nvSpPr>
        <p:spPr>
          <a:xfrm>
            <a:off x="5364328" y="521208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8A7420"/>
          </a:solidFill>
          <a:ln/>
        </p:spPr>
      </p:sp>
      <p:sp>
        <p:nvSpPr>
          <p:cNvPr id="18" name="Text 14"/>
          <p:cNvSpPr/>
          <p:nvPr/>
        </p:nvSpPr>
        <p:spPr>
          <a:xfrm>
            <a:off x="5364328" y="5212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SDG 11</a:t>
            </a:r>
            <a:endParaRPr lang="en-US" sz="2400" dirty="0"/>
          </a:p>
        </p:txBody>
      </p:sp>
      <p:sp>
        <p:nvSpPr>
          <p:cNvPr id="19" name="Shape 15"/>
          <p:cNvSpPr/>
          <p:nvPr/>
        </p:nvSpPr>
        <p:spPr>
          <a:xfrm>
            <a:off x="8173517" y="1828800"/>
            <a:ext cx="3515258" cy="4160520"/>
          </a:xfrm>
          <a:prstGeom prst="roundRect">
            <a:avLst>
              <a:gd name="adj" fmla="val 2601"/>
            </a:avLst>
          </a:prstGeom>
          <a:solidFill>
            <a:srgbClr val="2A2F37"/>
          </a:solidFill>
          <a:ln/>
        </p:spPr>
      </p:sp>
      <p:sp>
        <p:nvSpPr>
          <p:cNvPr id="20" name="Shape 16"/>
          <p:cNvSpPr/>
          <p:nvPr/>
        </p:nvSpPr>
        <p:spPr>
          <a:xfrm>
            <a:off x="9519666" y="2194560"/>
            <a:ext cx="822960" cy="82296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21" name="Image 2" descr="/tmp/aura_ppt/icons/FaLeaf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6651" y="2301545"/>
            <a:ext cx="608990" cy="60899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10677" y="3246120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Environmental</a:t>
            </a:r>
            <a:endParaRPr lang="en-US" sz="2600" dirty="0"/>
          </a:p>
        </p:txBody>
      </p:sp>
      <p:sp>
        <p:nvSpPr>
          <p:cNvPr id="23" name="Text 18"/>
          <p:cNvSpPr/>
          <p:nvPr/>
        </p:nvSpPr>
        <p:spPr>
          <a:xfrm>
            <a:off x="8310677" y="3886200"/>
            <a:ext cx="324093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Precise spray cuts waste</a:t>
            </a:r>
            <a:endParaRPr lang="en-US" sz="2400" dirty="0"/>
          </a:p>
        </p:txBody>
      </p:sp>
      <p:sp>
        <p:nvSpPr>
          <p:cNvPr id="24" name="Shape 19"/>
          <p:cNvSpPr/>
          <p:nvPr/>
        </p:nvSpPr>
        <p:spPr>
          <a:xfrm>
            <a:off x="9199626" y="5212080"/>
            <a:ext cx="1463040" cy="502920"/>
          </a:xfrm>
          <a:prstGeom prst="roundRect">
            <a:avLst>
              <a:gd name="adj" fmla="val 18182"/>
            </a:avLst>
          </a:prstGeom>
          <a:solidFill>
            <a:srgbClr val="8A7420"/>
          </a:solidFill>
          <a:ln/>
        </p:spPr>
      </p:sp>
      <p:sp>
        <p:nvSpPr>
          <p:cNvPr id="25" name="Text 20"/>
          <p:cNvSpPr/>
          <p:nvPr/>
        </p:nvSpPr>
        <p:spPr>
          <a:xfrm>
            <a:off x="9199626" y="5212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SDG 12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042855" y="2926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/ 18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Conceptual Framework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515258" cy="4160520"/>
          </a:xfrm>
          <a:prstGeom prst="roundRect">
            <a:avLst>
              <a:gd name="adj" fmla="val 2601"/>
            </a:avLst>
          </a:prstGeom>
          <a:solidFill>
            <a:srgbClr val="2A2F37"/>
          </a:solidFill>
          <a:ln/>
        </p:spPr>
      </p:sp>
      <p:sp>
        <p:nvSpPr>
          <p:cNvPr id="6" name="Shape 4"/>
          <p:cNvSpPr/>
          <p:nvPr/>
        </p:nvSpPr>
        <p:spPr>
          <a:xfrm>
            <a:off x="1917649" y="2103120"/>
            <a:ext cx="685800" cy="6858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7" name="Image 0" descr="/tmp/aura_ppt/icons/FaCamera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6803" y="2192274"/>
            <a:ext cx="507492" cy="5074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926080"/>
            <a:ext cx="3515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100" kern="0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85800" y="3474720"/>
            <a:ext cx="31494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Wall images (camera)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85800" y="4617720"/>
            <a:ext cx="31494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color preference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4338218" y="1828800"/>
            <a:ext cx="3515258" cy="4160520"/>
          </a:xfrm>
          <a:prstGeom prst="roundRect">
            <a:avLst>
              <a:gd name="adj" fmla="val 2601"/>
            </a:avLst>
          </a:prstGeom>
          <a:solidFill>
            <a:srgbClr val="2A2F37"/>
          </a:solidFill>
          <a:ln/>
        </p:spPr>
      </p:sp>
      <p:sp>
        <p:nvSpPr>
          <p:cNvPr id="12" name="Shape 9"/>
          <p:cNvSpPr/>
          <p:nvPr/>
        </p:nvSpPr>
        <p:spPr>
          <a:xfrm>
            <a:off x="5752948" y="2103120"/>
            <a:ext cx="685800" cy="6858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3" name="Image 1" descr="/tmp/aura_ppt/icons/FaMicrochip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102" y="2192274"/>
            <a:ext cx="507492" cy="5074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38218" y="2926080"/>
            <a:ext cx="3515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100" kern="0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4521098" y="3474720"/>
            <a:ext cx="314949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YOLOv8 segmentation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4521098" y="4046220"/>
            <a:ext cx="314949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Color recommendation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4521098" y="4617720"/>
            <a:ext cx="314949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Toolpath generation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4521098" y="5189220"/>
            <a:ext cx="314949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Spray control</a:t>
            </a:r>
            <a:endParaRPr lang="en-US" sz="2400" dirty="0"/>
          </a:p>
        </p:txBody>
      </p:sp>
      <p:sp>
        <p:nvSpPr>
          <p:cNvPr id="19" name="Shape 15"/>
          <p:cNvSpPr/>
          <p:nvPr/>
        </p:nvSpPr>
        <p:spPr>
          <a:xfrm>
            <a:off x="8173517" y="1828800"/>
            <a:ext cx="3515258" cy="4160520"/>
          </a:xfrm>
          <a:prstGeom prst="roundRect">
            <a:avLst>
              <a:gd name="adj" fmla="val 2601"/>
            </a:avLst>
          </a:prstGeom>
          <a:solidFill>
            <a:srgbClr val="2A2F37"/>
          </a:solidFill>
          <a:ln/>
        </p:spPr>
      </p:sp>
      <p:sp>
        <p:nvSpPr>
          <p:cNvPr id="20" name="Shape 16"/>
          <p:cNvSpPr/>
          <p:nvPr/>
        </p:nvSpPr>
        <p:spPr>
          <a:xfrm>
            <a:off x="9588246" y="2103120"/>
            <a:ext cx="685800" cy="6858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1" name="Image 2" descr="/tmp/aura_ppt/icons/FaPaintRoller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400" y="2192274"/>
            <a:ext cx="507492" cy="50749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173517" y="2926080"/>
            <a:ext cx="35152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spc="100" kern="0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</a:t>
            </a:r>
            <a:endParaRPr lang="en-US" sz="2400" dirty="0"/>
          </a:p>
        </p:txBody>
      </p:sp>
      <p:sp>
        <p:nvSpPr>
          <p:cNvPr id="23" name="Text 18"/>
          <p:cNvSpPr/>
          <p:nvPr/>
        </p:nvSpPr>
        <p:spPr>
          <a:xfrm>
            <a:off x="8356397" y="3474720"/>
            <a:ext cx="31494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Painted wall surface</a:t>
            </a:r>
            <a:endParaRPr lang="en-US" sz="2400" dirty="0"/>
          </a:p>
        </p:txBody>
      </p:sp>
      <p:sp>
        <p:nvSpPr>
          <p:cNvPr id="24" name="Text 19"/>
          <p:cNvSpPr/>
          <p:nvPr/>
        </p:nvSpPr>
        <p:spPr>
          <a:xfrm>
            <a:off x="8356397" y="4617720"/>
            <a:ext cx="314949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 metrics log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042855" y="2926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 / 18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Block Diagram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1098652" y="2788920"/>
            <a:ext cx="1691640" cy="2011680"/>
          </a:xfrm>
          <a:prstGeom prst="roundRect">
            <a:avLst>
              <a:gd name="adj" fmla="val 5405"/>
            </a:avLst>
          </a:prstGeom>
          <a:solidFill>
            <a:srgbClr val="2A2F37"/>
          </a:solidFill>
          <a:ln/>
        </p:spPr>
      </p:sp>
      <p:sp>
        <p:nvSpPr>
          <p:cNvPr id="6" name="Shape 4"/>
          <p:cNvSpPr/>
          <p:nvPr/>
        </p:nvSpPr>
        <p:spPr>
          <a:xfrm>
            <a:off x="1555852" y="3063240"/>
            <a:ext cx="777240" cy="77724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7" name="Image 0" descr="/tmp/aura_ppt/icons/FaCamera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6893" y="3164281"/>
            <a:ext cx="575158" cy="5751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4372" y="39776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Camera Input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790292" y="2788920"/>
            <a:ext cx="3840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3174340" y="2788920"/>
            <a:ext cx="1691640" cy="2011680"/>
          </a:xfrm>
          <a:prstGeom prst="roundRect">
            <a:avLst>
              <a:gd name="adj" fmla="val 5405"/>
            </a:avLst>
          </a:prstGeom>
          <a:solidFill>
            <a:srgbClr val="2A2F37"/>
          </a:solidFill>
          <a:ln/>
        </p:spPr>
      </p:sp>
      <p:sp>
        <p:nvSpPr>
          <p:cNvPr id="11" name="Shape 8"/>
          <p:cNvSpPr/>
          <p:nvPr/>
        </p:nvSpPr>
        <p:spPr>
          <a:xfrm>
            <a:off x="3631540" y="3063240"/>
            <a:ext cx="777240" cy="77724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12" name="Image 1" descr="/tmp/aura_ppt/icons/FaMicrochip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2581" y="3164281"/>
            <a:ext cx="575158" cy="5751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20060" y="39776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Processing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4865980" y="2788920"/>
            <a:ext cx="3840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3200" dirty="0"/>
          </a:p>
        </p:txBody>
      </p:sp>
      <p:sp>
        <p:nvSpPr>
          <p:cNvPr id="15" name="Shape 11"/>
          <p:cNvSpPr/>
          <p:nvPr/>
        </p:nvSpPr>
        <p:spPr>
          <a:xfrm>
            <a:off x="5250028" y="2788920"/>
            <a:ext cx="1691640" cy="2011680"/>
          </a:xfrm>
          <a:prstGeom prst="roundRect">
            <a:avLst>
              <a:gd name="adj" fmla="val 5405"/>
            </a:avLst>
          </a:prstGeom>
          <a:solidFill>
            <a:srgbClr val="2A2F37"/>
          </a:solidFill>
          <a:ln/>
        </p:spPr>
      </p:sp>
      <p:sp>
        <p:nvSpPr>
          <p:cNvPr id="16" name="Shape 12"/>
          <p:cNvSpPr/>
          <p:nvPr/>
        </p:nvSpPr>
        <p:spPr>
          <a:xfrm>
            <a:off x="5707228" y="3063240"/>
            <a:ext cx="777240" cy="77724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17" name="Image 2" descr="/tmp/aura_ppt/icons/FaGears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269" y="3164281"/>
            <a:ext cx="575158" cy="57515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95748" y="39776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Motion Control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6941668" y="2788920"/>
            <a:ext cx="3840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3200" dirty="0"/>
          </a:p>
        </p:txBody>
      </p:sp>
      <p:sp>
        <p:nvSpPr>
          <p:cNvPr id="20" name="Shape 15"/>
          <p:cNvSpPr/>
          <p:nvPr/>
        </p:nvSpPr>
        <p:spPr>
          <a:xfrm>
            <a:off x="7325716" y="2788920"/>
            <a:ext cx="1691640" cy="2011680"/>
          </a:xfrm>
          <a:prstGeom prst="roundRect">
            <a:avLst>
              <a:gd name="adj" fmla="val 5405"/>
            </a:avLst>
          </a:prstGeom>
          <a:solidFill>
            <a:srgbClr val="2A2F37"/>
          </a:solidFill>
          <a:ln/>
        </p:spPr>
      </p:sp>
      <p:sp>
        <p:nvSpPr>
          <p:cNvPr id="21" name="Shape 16"/>
          <p:cNvSpPr/>
          <p:nvPr/>
        </p:nvSpPr>
        <p:spPr>
          <a:xfrm>
            <a:off x="7782916" y="3063240"/>
            <a:ext cx="777240" cy="77724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22" name="Image 3" descr="/tmp/aura_ppt/icons/FaSprayCan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3957" y="3164281"/>
            <a:ext cx="575158" cy="57515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71436" y="39776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Spray System</a:t>
            </a:r>
            <a:endParaRPr lang="en-US" sz="2400" dirty="0"/>
          </a:p>
        </p:txBody>
      </p:sp>
      <p:sp>
        <p:nvSpPr>
          <p:cNvPr id="24" name="Text 18"/>
          <p:cNvSpPr/>
          <p:nvPr/>
        </p:nvSpPr>
        <p:spPr>
          <a:xfrm>
            <a:off x="9017356" y="2788920"/>
            <a:ext cx="3840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3200" dirty="0"/>
          </a:p>
        </p:txBody>
      </p:sp>
      <p:sp>
        <p:nvSpPr>
          <p:cNvPr id="25" name="Shape 19"/>
          <p:cNvSpPr/>
          <p:nvPr/>
        </p:nvSpPr>
        <p:spPr>
          <a:xfrm>
            <a:off x="9401404" y="2788920"/>
            <a:ext cx="1691640" cy="2011680"/>
          </a:xfrm>
          <a:prstGeom prst="roundRect">
            <a:avLst>
              <a:gd name="adj" fmla="val 5405"/>
            </a:avLst>
          </a:prstGeom>
          <a:solidFill>
            <a:srgbClr val="2A2F37"/>
          </a:solidFill>
          <a:ln/>
        </p:spPr>
      </p:sp>
      <p:sp>
        <p:nvSpPr>
          <p:cNvPr id="26" name="Shape 20"/>
          <p:cNvSpPr/>
          <p:nvPr/>
        </p:nvSpPr>
        <p:spPr>
          <a:xfrm>
            <a:off x="9858604" y="3063240"/>
            <a:ext cx="777240" cy="77724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27" name="Image 4" descr="/tmp/aura_ppt/icons/FaPaintRoller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9645" y="3164281"/>
            <a:ext cx="575158" cy="57515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447124" y="39776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Painted Output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042855" y="2926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 / 18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Flowchart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423818" cy="1188720"/>
          </a:xfrm>
          <a:prstGeom prst="roundRect">
            <a:avLst>
              <a:gd name="adj" fmla="val 7692"/>
            </a:avLst>
          </a:prstGeom>
          <a:solidFill>
            <a:srgbClr val="2A2F37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217420"/>
            <a:ext cx="502920" cy="50292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7" name="Image 0" descr="/tmp/aura_ppt/icons/FaPlay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900" y="2282800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874520"/>
            <a:ext cx="23722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383938" y="1874520"/>
            <a:ext cx="3423818" cy="1188720"/>
          </a:xfrm>
          <a:prstGeom prst="roundRect">
            <a:avLst>
              <a:gd name="adj" fmla="val 7692"/>
            </a:avLst>
          </a:prstGeom>
          <a:solidFill>
            <a:srgbClr val="2A2F37"/>
          </a:solidFill>
          <a:ln/>
        </p:spPr>
      </p:sp>
      <p:sp>
        <p:nvSpPr>
          <p:cNvPr id="10" name="Shape 7"/>
          <p:cNvSpPr/>
          <p:nvPr/>
        </p:nvSpPr>
        <p:spPr>
          <a:xfrm>
            <a:off x="4612538" y="2217420"/>
            <a:ext cx="502920" cy="50292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11" name="Image 1" descr="/tmp/aura_ppt/icons/FaBolt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918" y="228280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52618" y="1874520"/>
            <a:ext cx="23722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Initialize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8264957" y="1874520"/>
            <a:ext cx="3423818" cy="1188720"/>
          </a:xfrm>
          <a:prstGeom prst="roundRect">
            <a:avLst>
              <a:gd name="adj" fmla="val 7692"/>
            </a:avLst>
          </a:prstGeom>
          <a:solidFill>
            <a:srgbClr val="2A2F37"/>
          </a:solidFill>
          <a:ln/>
        </p:spPr>
      </p:sp>
      <p:sp>
        <p:nvSpPr>
          <p:cNvPr id="14" name="Shape 10"/>
          <p:cNvSpPr/>
          <p:nvPr/>
        </p:nvSpPr>
        <p:spPr>
          <a:xfrm>
            <a:off x="8493557" y="2217420"/>
            <a:ext cx="502920" cy="50292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15" name="Image 2" descr="/tmp/aura_ppt/icons/FaCamera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936" y="2282800"/>
            <a:ext cx="372161" cy="37216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33637" y="1874520"/>
            <a:ext cx="23722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Capture Image</a:t>
            </a:r>
            <a:endParaRPr lang="en-US" sz="2400" dirty="0"/>
          </a:p>
        </p:txBody>
      </p:sp>
      <p:sp>
        <p:nvSpPr>
          <p:cNvPr id="17" name="Shape 12"/>
          <p:cNvSpPr/>
          <p:nvPr/>
        </p:nvSpPr>
        <p:spPr>
          <a:xfrm>
            <a:off x="8264957" y="3383280"/>
            <a:ext cx="3423818" cy="1188720"/>
          </a:xfrm>
          <a:prstGeom prst="roundRect">
            <a:avLst>
              <a:gd name="adj" fmla="val 7692"/>
            </a:avLst>
          </a:prstGeom>
          <a:solidFill>
            <a:srgbClr val="2A2F37"/>
          </a:solidFill>
          <a:ln/>
        </p:spPr>
      </p:sp>
      <p:sp>
        <p:nvSpPr>
          <p:cNvPr id="18" name="Shape 13"/>
          <p:cNvSpPr/>
          <p:nvPr/>
        </p:nvSpPr>
        <p:spPr>
          <a:xfrm>
            <a:off x="8493557" y="3726180"/>
            <a:ext cx="502920" cy="50292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19" name="Image 3" descr="/tmp/aura_ppt/icons/FaLayerGroup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8936" y="3791560"/>
            <a:ext cx="372161" cy="37216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33637" y="3383280"/>
            <a:ext cx="23722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Segment Wall</a:t>
            </a:r>
            <a:endParaRPr lang="en-US" sz="2400" dirty="0"/>
          </a:p>
        </p:txBody>
      </p:sp>
      <p:sp>
        <p:nvSpPr>
          <p:cNvPr id="21" name="Shape 15"/>
          <p:cNvSpPr/>
          <p:nvPr/>
        </p:nvSpPr>
        <p:spPr>
          <a:xfrm>
            <a:off x="4383938" y="3383280"/>
            <a:ext cx="3423818" cy="1188720"/>
          </a:xfrm>
          <a:prstGeom prst="roundRect">
            <a:avLst>
              <a:gd name="adj" fmla="val 7692"/>
            </a:avLst>
          </a:prstGeom>
          <a:solidFill>
            <a:srgbClr val="2A2F37"/>
          </a:solidFill>
          <a:ln/>
        </p:spPr>
      </p:sp>
      <p:sp>
        <p:nvSpPr>
          <p:cNvPr id="22" name="Shape 16"/>
          <p:cNvSpPr/>
          <p:nvPr/>
        </p:nvSpPr>
        <p:spPr>
          <a:xfrm>
            <a:off x="4612538" y="3726180"/>
            <a:ext cx="502920" cy="50292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23" name="Image 4" descr="/tmp/aura_ppt/icons/FaCode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7918" y="3791560"/>
            <a:ext cx="372161" cy="3721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252618" y="3383280"/>
            <a:ext cx="23722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Generate Commands</a:t>
            </a:r>
            <a:endParaRPr lang="en-US" sz="2400" dirty="0"/>
          </a:p>
        </p:txBody>
      </p:sp>
      <p:sp>
        <p:nvSpPr>
          <p:cNvPr id="25" name="Shape 18"/>
          <p:cNvSpPr/>
          <p:nvPr/>
        </p:nvSpPr>
        <p:spPr>
          <a:xfrm>
            <a:off x="502920" y="3383280"/>
            <a:ext cx="3423818" cy="1188720"/>
          </a:xfrm>
          <a:prstGeom prst="roundRect">
            <a:avLst>
              <a:gd name="adj" fmla="val 7692"/>
            </a:avLst>
          </a:prstGeom>
          <a:solidFill>
            <a:srgbClr val="2A2F37"/>
          </a:solidFill>
          <a:ln/>
        </p:spPr>
      </p:sp>
      <p:sp>
        <p:nvSpPr>
          <p:cNvPr id="26" name="Shape 19"/>
          <p:cNvSpPr/>
          <p:nvPr/>
        </p:nvSpPr>
        <p:spPr>
          <a:xfrm>
            <a:off x="731520" y="3726180"/>
            <a:ext cx="502920" cy="50292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27" name="Image 5" descr="/tmp/aura_ppt/icons/FaGears_acc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900" y="3791560"/>
            <a:ext cx="372161" cy="37216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371600" y="3383280"/>
            <a:ext cx="23722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Move Gantry</a:t>
            </a:r>
            <a:endParaRPr lang="en-US" sz="2400" dirty="0"/>
          </a:p>
        </p:txBody>
      </p:sp>
      <p:sp>
        <p:nvSpPr>
          <p:cNvPr id="29" name="Shape 21"/>
          <p:cNvSpPr/>
          <p:nvPr/>
        </p:nvSpPr>
        <p:spPr>
          <a:xfrm>
            <a:off x="502920" y="4892040"/>
            <a:ext cx="3423818" cy="1188720"/>
          </a:xfrm>
          <a:prstGeom prst="roundRect">
            <a:avLst>
              <a:gd name="adj" fmla="val 7692"/>
            </a:avLst>
          </a:prstGeom>
          <a:solidFill>
            <a:srgbClr val="2A2F37"/>
          </a:solidFill>
          <a:ln/>
        </p:spPr>
      </p:sp>
      <p:sp>
        <p:nvSpPr>
          <p:cNvPr id="30" name="Shape 22"/>
          <p:cNvSpPr/>
          <p:nvPr/>
        </p:nvSpPr>
        <p:spPr>
          <a:xfrm>
            <a:off x="731520" y="5234940"/>
            <a:ext cx="502920" cy="50292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31" name="Image 6" descr="/tmp/aura_ppt/icons/FaSprayCan_acce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900" y="5300320"/>
            <a:ext cx="372161" cy="372161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371600" y="4892040"/>
            <a:ext cx="23722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Paint</a:t>
            </a:r>
            <a:endParaRPr lang="en-US" sz="2400" dirty="0"/>
          </a:p>
        </p:txBody>
      </p:sp>
      <p:sp>
        <p:nvSpPr>
          <p:cNvPr id="33" name="Shape 24"/>
          <p:cNvSpPr/>
          <p:nvPr/>
        </p:nvSpPr>
        <p:spPr>
          <a:xfrm>
            <a:off x="4383938" y="4892040"/>
            <a:ext cx="3423818" cy="1188720"/>
          </a:xfrm>
          <a:prstGeom prst="roundRect">
            <a:avLst>
              <a:gd name="adj" fmla="val 7692"/>
            </a:avLst>
          </a:prstGeom>
          <a:solidFill>
            <a:srgbClr val="2A2F37"/>
          </a:solidFill>
          <a:ln/>
        </p:spPr>
      </p:sp>
      <p:sp>
        <p:nvSpPr>
          <p:cNvPr id="34" name="Shape 25"/>
          <p:cNvSpPr/>
          <p:nvPr/>
        </p:nvSpPr>
        <p:spPr>
          <a:xfrm>
            <a:off x="4612538" y="5234940"/>
            <a:ext cx="502920" cy="50292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35" name="Image 7" descr="/tmp/aura_ppt/icons/FaGaugeHigh_accen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7918" y="5300320"/>
            <a:ext cx="372161" cy="372161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252618" y="4892040"/>
            <a:ext cx="23722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Collect Metrics</a:t>
            </a:r>
            <a:endParaRPr lang="en-US" sz="2400" dirty="0"/>
          </a:p>
        </p:txBody>
      </p:sp>
      <p:sp>
        <p:nvSpPr>
          <p:cNvPr id="37" name="Shape 27"/>
          <p:cNvSpPr/>
          <p:nvPr/>
        </p:nvSpPr>
        <p:spPr>
          <a:xfrm>
            <a:off x="8264957" y="4892040"/>
            <a:ext cx="3423818" cy="1188720"/>
          </a:xfrm>
          <a:prstGeom prst="roundRect">
            <a:avLst>
              <a:gd name="adj" fmla="val 7692"/>
            </a:avLst>
          </a:prstGeom>
          <a:solidFill>
            <a:srgbClr val="2A2F37"/>
          </a:solidFill>
          <a:ln/>
        </p:spPr>
      </p:sp>
      <p:sp>
        <p:nvSpPr>
          <p:cNvPr id="38" name="Shape 28"/>
          <p:cNvSpPr/>
          <p:nvPr/>
        </p:nvSpPr>
        <p:spPr>
          <a:xfrm>
            <a:off x="8493557" y="5234940"/>
            <a:ext cx="502920" cy="50292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39" name="Image 8" descr="/tmp/aura_ppt/icons/FaFlag_accen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58936" y="5300320"/>
            <a:ext cx="372161" cy="372161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9133637" y="4892040"/>
            <a:ext cx="23722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End</a:t>
            </a:r>
            <a:endParaRPr lang="en-US" sz="2400" dirty="0"/>
          </a:p>
        </p:txBody>
      </p:sp>
      <p:sp>
        <p:nvSpPr>
          <p:cNvPr id="41" name="Text 30"/>
          <p:cNvSpPr/>
          <p:nvPr/>
        </p:nvSpPr>
        <p:spPr>
          <a:xfrm>
            <a:off x="3926738" y="187452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3200" dirty="0"/>
          </a:p>
        </p:txBody>
      </p:sp>
      <p:sp>
        <p:nvSpPr>
          <p:cNvPr id="42" name="Text 31"/>
          <p:cNvSpPr/>
          <p:nvPr/>
        </p:nvSpPr>
        <p:spPr>
          <a:xfrm>
            <a:off x="7807757" y="187452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3200" dirty="0"/>
          </a:p>
        </p:txBody>
      </p:sp>
      <p:sp>
        <p:nvSpPr>
          <p:cNvPr id="43" name="Text 32"/>
          <p:cNvSpPr/>
          <p:nvPr/>
        </p:nvSpPr>
        <p:spPr>
          <a:xfrm>
            <a:off x="8264957" y="3063240"/>
            <a:ext cx="3423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↓</a:t>
            </a:r>
            <a:endParaRPr lang="en-US" sz="3200" dirty="0"/>
          </a:p>
        </p:txBody>
      </p:sp>
      <p:sp>
        <p:nvSpPr>
          <p:cNvPr id="44" name="Text 33"/>
          <p:cNvSpPr/>
          <p:nvPr/>
        </p:nvSpPr>
        <p:spPr>
          <a:xfrm>
            <a:off x="7807757" y="338328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←</a:t>
            </a:r>
            <a:endParaRPr lang="en-US" sz="3200" dirty="0"/>
          </a:p>
        </p:txBody>
      </p:sp>
      <p:sp>
        <p:nvSpPr>
          <p:cNvPr id="45" name="Text 34"/>
          <p:cNvSpPr/>
          <p:nvPr/>
        </p:nvSpPr>
        <p:spPr>
          <a:xfrm>
            <a:off x="3926738" y="338328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←</a:t>
            </a:r>
            <a:endParaRPr lang="en-US" sz="3200" dirty="0"/>
          </a:p>
        </p:txBody>
      </p:sp>
      <p:sp>
        <p:nvSpPr>
          <p:cNvPr id="46" name="Text 35"/>
          <p:cNvSpPr/>
          <p:nvPr/>
        </p:nvSpPr>
        <p:spPr>
          <a:xfrm>
            <a:off x="502920" y="4572000"/>
            <a:ext cx="3423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↓</a:t>
            </a:r>
            <a:endParaRPr lang="en-US" sz="3200" dirty="0"/>
          </a:p>
        </p:txBody>
      </p:sp>
      <p:sp>
        <p:nvSpPr>
          <p:cNvPr id="47" name="Text 36"/>
          <p:cNvSpPr/>
          <p:nvPr/>
        </p:nvSpPr>
        <p:spPr>
          <a:xfrm>
            <a:off x="3926738" y="489204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3200" dirty="0"/>
          </a:p>
        </p:txBody>
      </p:sp>
      <p:sp>
        <p:nvSpPr>
          <p:cNvPr id="48" name="Text 37"/>
          <p:cNvSpPr/>
          <p:nvPr/>
        </p:nvSpPr>
        <p:spPr>
          <a:xfrm>
            <a:off x="7807757" y="4892040"/>
            <a:ext cx="457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042855" y="2926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 / 18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Design &amp; Methodology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Developmental &amp; Experimental Design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2286000"/>
            <a:ext cx="2577008" cy="3703320"/>
          </a:xfrm>
          <a:prstGeom prst="roundRect">
            <a:avLst>
              <a:gd name="adj" fmla="val 3548"/>
            </a:avLst>
          </a:prstGeom>
          <a:solidFill>
            <a:srgbClr val="2A2F37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46888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1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402804" y="3200400"/>
            <a:ext cx="777240" cy="77724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10" name="Image 0" descr="/tmp/aura_ppt/icons/FaDiagramProject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3845" y="3301441"/>
            <a:ext cx="575158" cy="57515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4160520"/>
            <a:ext cx="230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40080" y="4663440"/>
            <a:ext cx="2302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Requirements &amp; system design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3372536" y="2286000"/>
            <a:ext cx="2577008" cy="3703320"/>
          </a:xfrm>
          <a:prstGeom prst="roundRect">
            <a:avLst>
              <a:gd name="adj" fmla="val 3548"/>
            </a:avLst>
          </a:prstGeom>
          <a:solidFill>
            <a:srgbClr val="2A2F37"/>
          </a:solidFill>
          <a:ln/>
        </p:spPr>
      </p:sp>
      <p:sp>
        <p:nvSpPr>
          <p:cNvPr id="14" name="Shape 11"/>
          <p:cNvSpPr/>
          <p:nvPr/>
        </p:nvSpPr>
        <p:spPr>
          <a:xfrm>
            <a:off x="3555416" y="246888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2"/>
          <p:cNvSpPr/>
          <p:nvPr/>
        </p:nvSpPr>
        <p:spPr>
          <a:xfrm>
            <a:off x="3555416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1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4272420" y="3200400"/>
            <a:ext cx="777240" cy="77724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17" name="Image 1" descr="/tmp/aura_ppt/icons/FaWrench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461" y="3301441"/>
            <a:ext cx="575158" cy="57515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09696" y="4160520"/>
            <a:ext cx="230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Development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3509696" y="4663440"/>
            <a:ext cx="2302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Hardware &amp; software build</a:t>
            </a:r>
            <a:endParaRPr lang="en-US" sz="2400" dirty="0"/>
          </a:p>
        </p:txBody>
      </p:sp>
      <p:sp>
        <p:nvSpPr>
          <p:cNvPr id="20" name="Shape 16"/>
          <p:cNvSpPr/>
          <p:nvPr/>
        </p:nvSpPr>
        <p:spPr>
          <a:xfrm>
            <a:off x="6242152" y="2286000"/>
            <a:ext cx="2577008" cy="3703320"/>
          </a:xfrm>
          <a:prstGeom prst="roundRect">
            <a:avLst>
              <a:gd name="adj" fmla="val 3548"/>
            </a:avLst>
          </a:prstGeom>
          <a:solidFill>
            <a:srgbClr val="2A2F37"/>
          </a:solidFill>
          <a:ln/>
        </p:spPr>
      </p:sp>
      <p:sp>
        <p:nvSpPr>
          <p:cNvPr id="21" name="Shape 17"/>
          <p:cNvSpPr/>
          <p:nvPr/>
        </p:nvSpPr>
        <p:spPr>
          <a:xfrm>
            <a:off x="6425032" y="246888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2" name="Text 18"/>
          <p:cNvSpPr/>
          <p:nvPr/>
        </p:nvSpPr>
        <p:spPr>
          <a:xfrm>
            <a:off x="6425032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1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Shape 19"/>
          <p:cNvSpPr/>
          <p:nvPr/>
        </p:nvSpPr>
        <p:spPr>
          <a:xfrm>
            <a:off x="7142035" y="3200400"/>
            <a:ext cx="777240" cy="77724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24" name="Image 2" descr="/tmp/aura_ppt/icons/FaFlask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3077" y="3301441"/>
            <a:ext cx="575158" cy="57515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79312" y="4160520"/>
            <a:ext cx="230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Testing</a:t>
            </a:r>
            <a:endParaRPr lang="en-US" sz="2400" dirty="0"/>
          </a:p>
        </p:txBody>
      </p:sp>
      <p:sp>
        <p:nvSpPr>
          <p:cNvPr id="26" name="Text 21"/>
          <p:cNvSpPr/>
          <p:nvPr/>
        </p:nvSpPr>
        <p:spPr>
          <a:xfrm>
            <a:off x="6379312" y="4663440"/>
            <a:ext cx="2302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Component &amp; integration tests</a:t>
            </a:r>
            <a:endParaRPr lang="en-US" sz="2400" dirty="0"/>
          </a:p>
        </p:txBody>
      </p:sp>
      <p:sp>
        <p:nvSpPr>
          <p:cNvPr id="27" name="Shape 22"/>
          <p:cNvSpPr/>
          <p:nvPr/>
        </p:nvSpPr>
        <p:spPr>
          <a:xfrm>
            <a:off x="9111767" y="2286000"/>
            <a:ext cx="2577008" cy="3703320"/>
          </a:xfrm>
          <a:prstGeom prst="roundRect">
            <a:avLst>
              <a:gd name="adj" fmla="val 3548"/>
            </a:avLst>
          </a:prstGeom>
          <a:solidFill>
            <a:srgbClr val="2A2F37"/>
          </a:solidFill>
          <a:ln/>
        </p:spPr>
      </p:sp>
      <p:sp>
        <p:nvSpPr>
          <p:cNvPr id="28" name="Shape 23"/>
          <p:cNvSpPr/>
          <p:nvPr/>
        </p:nvSpPr>
        <p:spPr>
          <a:xfrm>
            <a:off x="9294647" y="246888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9" name="Text 24"/>
          <p:cNvSpPr/>
          <p:nvPr/>
        </p:nvSpPr>
        <p:spPr>
          <a:xfrm>
            <a:off x="9294647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1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400" dirty="0"/>
          </a:p>
        </p:txBody>
      </p:sp>
      <p:sp>
        <p:nvSpPr>
          <p:cNvPr id="30" name="Shape 25"/>
          <p:cNvSpPr/>
          <p:nvPr/>
        </p:nvSpPr>
        <p:spPr>
          <a:xfrm>
            <a:off x="10011651" y="3200400"/>
            <a:ext cx="777240" cy="77724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31" name="Image 3" descr="/tmp/aura_ppt/icons/FaGaugeHigh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2693" y="3301441"/>
            <a:ext cx="575158" cy="57515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248927" y="4160520"/>
            <a:ext cx="2302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</a:t>
            </a:r>
            <a:endParaRPr lang="en-US" sz="2400" dirty="0"/>
          </a:p>
        </p:txBody>
      </p:sp>
      <p:sp>
        <p:nvSpPr>
          <p:cNvPr id="33" name="Text 27"/>
          <p:cNvSpPr/>
          <p:nvPr/>
        </p:nvSpPr>
        <p:spPr>
          <a:xfrm>
            <a:off x="9248927" y="4663440"/>
            <a:ext cx="2302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 &amp; data analysis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042855" y="2926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 / 18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Hardware Design Stack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410048" cy="914400"/>
          </a:xfrm>
          <a:prstGeom prst="roundRect">
            <a:avLst>
              <a:gd name="adj" fmla="val 10000"/>
            </a:avLst>
          </a:prstGeom>
          <a:solidFill>
            <a:srgbClr val="2A2F37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080260"/>
            <a:ext cx="502920" cy="50292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7" name="Image 0" descr="/tmp/aura_ppt/icons/FaWrench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180" y="2145640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874520"/>
            <a:ext cx="4358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Aluminum Extrusion Frame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502920" y="2971800"/>
            <a:ext cx="5410048" cy="914400"/>
          </a:xfrm>
          <a:prstGeom prst="roundRect">
            <a:avLst>
              <a:gd name="adj" fmla="val 10000"/>
            </a:avLst>
          </a:prstGeom>
          <a:solidFill>
            <a:srgbClr val="2A2F37"/>
          </a:solidFill>
          <a:ln/>
        </p:spPr>
      </p:sp>
      <p:sp>
        <p:nvSpPr>
          <p:cNvPr id="10" name="Shape 7"/>
          <p:cNvSpPr/>
          <p:nvPr/>
        </p:nvSpPr>
        <p:spPr>
          <a:xfrm>
            <a:off x="685800" y="3177540"/>
            <a:ext cx="502920" cy="50292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11" name="Image 1" descr="/tmp/aura_ppt/icons/FaGears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180" y="324292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971800"/>
            <a:ext cx="4358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3× NEMA23 Stepper Motors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502920" y="4069080"/>
            <a:ext cx="5410048" cy="914400"/>
          </a:xfrm>
          <a:prstGeom prst="roundRect">
            <a:avLst>
              <a:gd name="adj" fmla="val 10000"/>
            </a:avLst>
          </a:prstGeom>
          <a:solidFill>
            <a:srgbClr val="2A2F37"/>
          </a:solidFill>
          <a:ln/>
        </p:spPr>
      </p:sp>
      <p:sp>
        <p:nvSpPr>
          <p:cNvPr id="14" name="Shape 10"/>
          <p:cNvSpPr/>
          <p:nvPr/>
        </p:nvSpPr>
        <p:spPr>
          <a:xfrm>
            <a:off x="685800" y="4274820"/>
            <a:ext cx="502920" cy="50292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15" name="Image 2" descr="/tmp/aura_ppt/icons/FaBolt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80" y="4340200"/>
            <a:ext cx="372161" cy="37216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4069080"/>
            <a:ext cx="4358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TB6600 Stepper Drivers</a:t>
            </a:r>
            <a:endParaRPr lang="en-US" sz="2400" dirty="0"/>
          </a:p>
        </p:txBody>
      </p:sp>
      <p:sp>
        <p:nvSpPr>
          <p:cNvPr id="17" name="Shape 12"/>
          <p:cNvSpPr/>
          <p:nvPr/>
        </p:nvSpPr>
        <p:spPr>
          <a:xfrm>
            <a:off x="502920" y="5166360"/>
            <a:ext cx="5410048" cy="914400"/>
          </a:xfrm>
          <a:prstGeom prst="roundRect">
            <a:avLst>
              <a:gd name="adj" fmla="val 10000"/>
            </a:avLst>
          </a:prstGeom>
          <a:solidFill>
            <a:srgbClr val="2A2F37"/>
          </a:solidFill>
          <a:ln/>
        </p:spPr>
      </p:sp>
      <p:sp>
        <p:nvSpPr>
          <p:cNvPr id="18" name="Shape 13"/>
          <p:cNvSpPr/>
          <p:nvPr/>
        </p:nvSpPr>
        <p:spPr>
          <a:xfrm>
            <a:off x="685800" y="5372100"/>
            <a:ext cx="502920" cy="50292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19" name="Image 3" descr="/tmp/aura_ppt/icons/FaMicrochip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180" y="5437480"/>
            <a:ext cx="372161" cy="37216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5166360"/>
            <a:ext cx="4358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Arduino Mega 2560</a:t>
            </a:r>
            <a:endParaRPr lang="en-US" sz="2400" dirty="0"/>
          </a:p>
        </p:txBody>
      </p:sp>
      <p:sp>
        <p:nvSpPr>
          <p:cNvPr id="21" name="Shape 15"/>
          <p:cNvSpPr/>
          <p:nvPr/>
        </p:nvSpPr>
        <p:spPr>
          <a:xfrm>
            <a:off x="6278728" y="1874520"/>
            <a:ext cx="5410048" cy="914400"/>
          </a:xfrm>
          <a:prstGeom prst="roundRect">
            <a:avLst>
              <a:gd name="adj" fmla="val 10000"/>
            </a:avLst>
          </a:prstGeom>
          <a:solidFill>
            <a:srgbClr val="2A2F37"/>
          </a:solidFill>
          <a:ln/>
        </p:spPr>
      </p:sp>
      <p:sp>
        <p:nvSpPr>
          <p:cNvPr id="22" name="Shape 16"/>
          <p:cNvSpPr/>
          <p:nvPr/>
        </p:nvSpPr>
        <p:spPr>
          <a:xfrm>
            <a:off x="6461608" y="2080260"/>
            <a:ext cx="502920" cy="50292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23" name="Image 4" descr="/tmp/aura_ppt/icons/FaLink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6987" y="2145640"/>
            <a:ext cx="372161" cy="3721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47408" y="1874520"/>
            <a:ext cx="4358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GT2 10mm Belt Drive</a:t>
            </a:r>
            <a:endParaRPr lang="en-US" sz="2400" dirty="0"/>
          </a:p>
        </p:txBody>
      </p:sp>
      <p:sp>
        <p:nvSpPr>
          <p:cNvPr id="25" name="Shape 18"/>
          <p:cNvSpPr/>
          <p:nvPr/>
        </p:nvSpPr>
        <p:spPr>
          <a:xfrm>
            <a:off x="6278728" y="2971800"/>
            <a:ext cx="5410048" cy="914400"/>
          </a:xfrm>
          <a:prstGeom prst="roundRect">
            <a:avLst>
              <a:gd name="adj" fmla="val 10000"/>
            </a:avLst>
          </a:prstGeom>
          <a:solidFill>
            <a:srgbClr val="2A2F37"/>
          </a:solidFill>
          <a:ln/>
        </p:spPr>
      </p:sp>
      <p:sp>
        <p:nvSpPr>
          <p:cNvPr id="26" name="Shape 19"/>
          <p:cNvSpPr/>
          <p:nvPr/>
        </p:nvSpPr>
        <p:spPr>
          <a:xfrm>
            <a:off x="6461608" y="3177540"/>
            <a:ext cx="502920" cy="50292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27" name="Image 5" descr="/tmp/aura_ppt/icons/FaDroplet_acc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6987" y="3242920"/>
            <a:ext cx="372161" cy="37216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147408" y="2971800"/>
            <a:ext cx="4358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Spray Pump + Solenoid *</a:t>
            </a:r>
            <a:endParaRPr lang="en-US" sz="2400" dirty="0"/>
          </a:p>
        </p:txBody>
      </p:sp>
      <p:sp>
        <p:nvSpPr>
          <p:cNvPr id="29" name="Shape 21"/>
          <p:cNvSpPr/>
          <p:nvPr/>
        </p:nvSpPr>
        <p:spPr>
          <a:xfrm>
            <a:off x="6278728" y="4069080"/>
            <a:ext cx="5410048" cy="914400"/>
          </a:xfrm>
          <a:prstGeom prst="roundRect">
            <a:avLst>
              <a:gd name="adj" fmla="val 10000"/>
            </a:avLst>
          </a:prstGeom>
          <a:solidFill>
            <a:srgbClr val="2A2F37"/>
          </a:solidFill>
          <a:ln/>
        </p:spPr>
      </p:sp>
      <p:sp>
        <p:nvSpPr>
          <p:cNvPr id="30" name="Shape 22"/>
          <p:cNvSpPr/>
          <p:nvPr/>
        </p:nvSpPr>
        <p:spPr>
          <a:xfrm>
            <a:off x="6461608" y="4274820"/>
            <a:ext cx="502920" cy="50292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31" name="Image 6" descr="/tmp/aura_ppt/icons/FaPlug_accen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6987" y="4340200"/>
            <a:ext cx="372161" cy="372161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147408" y="4069080"/>
            <a:ext cx="4358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 Switches + USB Camera</a:t>
            </a:r>
            <a:endParaRPr lang="en-US" sz="2400" dirty="0"/>
          </a:p>
        </p:txBody>
      </p:sp>
      <p:sp>
        <p:nvSpPr>
          <p:cNvPr id="33" name="Text 24"/>
          <p:cNvSpPr/>
          <p:nvPr/>
        </p:nvSpPr>
        <p:spPr>
          <a:xfrm>
            <a:off x="502920" y="626364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 Spray actuator still tentative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042855" y="2926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 / 18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Software Development Stack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5410048" cy="1051560"/>
          </a:xfrm>
          <a:prstGeom prst="roundRect">
            <a:avLst>
              <a:gd name="adj" fmla="val 8696"/>
            </a:avLst>
          </a:prstGeom>
          <a:solidFill>
            <a:srgbClr val="2A2F37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2377440"/>
            <a:ext cx="502920" cy="50292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7" name="Image 0" descr="/tmp/aura_ppt/icons/FaMicrochip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180" y="2442820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103120"/>
            <a:ext cx="4358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PyTorch + CUDA (RTX 3050)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502920" y="3410712"/>
            <a:ext cx="5410048" cy="1051560"/>
          </a:xfrm>
          <a:prstGeom prst="roundRect">
            <a:avLst>
              <a:gd name="adj" fmla="val 8696"/>
            </a:avLst>
          </a:prstGeom>
          <a:solidFill>
            <a:srgbClr val="2A2F37"/>
          </a:solidFill>
          <a:ln/>
        </p:spPr>
      </p:sp>
      <p:sp>
        <p:nvSpPr>
          <p:cNvPr id="10" name="Shape 7"/>
          <p:cNvSpPr/>
          <p:nvPr/>
        </p:nvSpPr>
        <p:spPr>
          <a:xfrm>
            <a:off x="685800" y="3685032"/>
            <a:ext cx="502920" cy="50292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11" name="Image 1" descr="/tmp/aura_ppt/icons/FaLayerGroup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180" y="3750412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3410712"/>
            <a:ext cx="4358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YOLOv8 (Ultralytics)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502920" y="4718304"/>
            <a:ext cx="5410048" cy="1051560"/>
          </a:xfrm>
          <a:prstGeom prst="roundRect">
            <a:avLst>
              <a:gd name="adj" fmla="val 8696"/>
            </a:avLst>
          </a:prstGeom>
          <a:solidFill>
            <a:srgbClr val="2A2F37"/>
          </a:solidFill>
          <a:ln/>
        </p:spPr>
      </p:sp>
      <p:sp>
        <p:nvSpPr>
          <p:cNvPr id="14" name="Shape 10"/>
          <p:cNvSpPr/>
          <p:nvPr/>
        </p:nvSpPr>
        <p:spPr>
          <a:xfrm>
            <a:off x="685800" y="4992624"/>
            <a:ext cx="502920" cy="50292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15" name="Image 2" descr="/tmp/aura_ppt/icons/FaCamera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80" y="5058004"/>
            <a:ext cx="372161" cy="37216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4718304"/>
            <a:ext cx="4358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OpenCV Image Processing</a:t>
            </a:r>
            <a:endParaRPr lang="en-US" sz="2400" dirty="0"/>
          </a:p>
        </p:txBody>
      </p:sp>
      <p:sp>
        <p:nvSpPr>
          <p:cNvPr id="17" name="Shape 12"/>
          <p:cNvSpPr/>
          <p:nvPr/>
        </p:nvSpPr>
        <p:spPr>
          <a:xfrm>
            <a:off x="6278728" y="2103120"/>
            <a:ext cx="5410048" cy="1051560"/>
          </a:xfrm>
          <a:prstGeom prst="roundRect">
            <a:avLst>
              <a:gd name="adj" fmla="val 8696"/>
            </a:avLst>
          </a:prstGeom>
          <a:solidFill>
            <a:srgbClr val="2A2F37"/>
          </a:solidFill>
          <a:ln/>
        </p:spPr>
      </p:sp>
      <p:sp>
        <p:nvSpPr>
          <p:cNvPr id="18" name="Shape 13"/>
          <p:cNvSpPr/>
          <p:nvPr/>
        </p:nvSpPr>
        <p:spPr>
          <a:xfrm>
            <a:off x="6461608" y="2377440"/>
            <a:ext cx="502920" cy="50292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19" name="Image 3" descr="/tmp/aura_ppt/icons/FaCode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6987" y="2442820"/>
            <a:ext cx="372161" cy="37216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147408" y="2103120"/>
            <a:ext cx="4358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Python Toolpath Generation</a:t>
            </a:r>
            <a:endParaRPr lang="en-US" sz="2400" dirty="0"/>
          </a:p>
        </p:txBody>
      </p:sp>
      <p:sp>
        <p:nvSpPr>
          <p:cNvPr id="21" name="Shape 15"/>
          <p:cNvSpPr/>
          <p:nvPr/>
        </p:nvSpPr>
        <p:spPr>
          <a:xfrm>
            <a:off x="6278728" y="3410712"/>
            <a:ext cx="5410048" cy="1051560"/>
          </a:xfrm>
          <a:prstGeom prst="roundRect">
            <a:avLst>
              <a:gd name="adj" fmla="val 8696"/>
            </a:avLst>
          </a:prstGeom>
          <a:solidFill>
            <a:srgbClr val="2A2F37"/>
          </a:solidFill>
          <a:ln/>
        </p:spPr>
      </p:sp>
      <p:sp>
        <p:nvSpPr>
          <p:cNvPr id="22" name="Shape 16"/>
          <p:cNvSpPr/>
          <p:nvPr/>
        </p:nvSpPr>
        <p:spPr>
          <a:xfrm>
            <a:off x="6461608" y="3685032"/>
            <a:ext cx="502920" cy="50292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23" name="Image 4" descr="/tmp/aura_ppt/icons/FaPlug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6987" y="3750412"/>
            <a:ext cx="372161" cy="37216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147408" y="3410712"/>
            <a:ext cx="4358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pyserial Arduino Link</a:t>
            </a:r>
            <a:endParaRPr lang="en-US" sz="2400" dirty="0"/>
          </a:p>
        </p:txBody>
      </p:sp>
      <p:sp>
        <p:nvSpPr>
          <p:cNvPr id="25" name="Shape 18"/>
          <p:cNvSpPr/>
          <p:nvPr/>
        </p:nvSpPr>
        <p:spPr>
          <a:xfrm>
            <a:off x="6278728" y="4718304"/>
            <a:ext cx="5410048" cy="1051560"/>
          </a:xfrm>
          <a:prstGeom prst="roundRect">
            <a:avLst>
              <a:gd name="adj" fmla="val 8696"/>
            </a:avLst>
          </a:prstGeom>
          <a:solidFill>
            <a:srgbClr val="2A2F37"/>
          </a:solidFill>
          <a:ln/>
        </p:spPr>
      </p:sp>
      <p:sp>
        <p:nvSpPr>
          <p:cNvPr id="26" name="Shape 19"/>
          <p:cNvSpPr/>
          <p:nvPr/>
        </p:nvSpPr>
        <p:spPr>
          <a:xfrm>
            <a:off x="6461608" y="4992624"/>
            <a:ext cx="502920" cy="50292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27" name="Image 5" descr="/tmp/aura_ppt/icons/FaCodeBranch_acc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6987" y="5058004"/>
            <a:ext cx="372161" cy="372161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147408" y="4718304"/>
            <a:ext cx="4358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 Version Control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042855" y="2926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 / 18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Collection &amp; Participants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3515258" cy="4160520"/>
          </a:xfrm>
          <a:prstGeom prst="roundRect">
            <a:avLst>
              <a:gd name="adj" fmla="val 2601"/>
            </a:avLst>
          </a:prstGeom>
          <a:solidFill>
            <a:srgbClr val="2A2F37"/>
          </a:solidFill>
          <a:ln/>
        </p:spPr>
      </p:sp>
      <p:sp>
        <p:nvSpPr>
          <p:cNvPr id="6" name="Shape 4"/>
          <p:cNvSpPr/>
          <p:nvPr/>
        </p:nvSpPr>
        <p:spPr>
          <a:xfrm>
            <a:off x="1849069" y="2286000"/>
            <a:ext cx="822960" cy="82296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7" name="Image 0" descr="/tmp/aura_ppt/icons/FaDatabase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6054" y="2392985"/>
            <a:ext cx="608990" cy="6089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429000"/>
            <a:ext cx="32409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Wall Image Dataset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40080" y="4343400"/>
            <a:ext cx="32409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 captures + COCO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4338218" y="1828800"/>
            <a:ext cx="3515258" cy="4160520"/>
          </a:xfrm>
          <a:prstGeom prst="roundRect">
            <a:avLst>
              <a:gd name="adj" fmla="val 2601"/>
            </a:avLst>
          </a:prstGeom>
          <a:solidFill>
            <a:srgbClr val="2A2F37"/>
          </a:solidFill>
          <a:ln/>
        </p:spPr>
      </p:sp>
      <p:sp>
        <p:nvSpPr>
          <p:cNvPr id="11" name="Shape 8"/>
          <p:cNvSpPr/>
          <p:nvPr/>
        </p:nvSpPr>
        <p:spPr>
          <a:xfrm>
            <a:off x="5684368" y="2286000"/>
            <a:ext cx="822960" cy="82296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12" name="Image 1" descr="/tmp/aura_ppt/icons/FaPalette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352" y="2392985"/>
            <a:ext cx="608990" cy="6089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75378" y="3429000"/>
            <a:ext cx="32409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Color Palette Dataset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4475378" y="4343400"/>
            <a:ext cx="32409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Curated reference palettes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8173517" y="1828800"/>
            <a:ext cx="3515258" cy="4160520"/>
          </a:xfrm>
          <a:prstGeom prst="roundRect">
            <a:avLst>
              <a:gd name="adj" fmla="val 2601"/>
            </a:avLst>
          </a:prstGeom>
          <a:solidFill>
            <a:srgbClr val="2A2F37"/>
          </a:solidFill>
          <a:ln/>
        </p:spPr>
      </p:sp>
      <p:sp>
        <p:nvSpPr>
          <p:cNvPr id="16" name="Shape 12"/>
          <p:cNvSpPr/>
          <p:nvPr/>
        </p:nvSpPr>
        <p:spPr>
          <a:xfrm>
            <a:off x="9519666" y="2286000"/>
            <a:ext cx="822960" cy="82296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17" name="Image 2" descr="/tmp/aura_ppt/icons/FaUsers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6651" y="2392985"/>
            <a:ext cx="608990" cy="6089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10677" y="3429000"/>
            <a:ext cx="32409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Evaluator Panel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8310677" y="4343400"/>
            <a:ext cx="32409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 group, 1–5 ratings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042855" y="2926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 / 18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 Metrics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41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QUANTITATIVE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2286000"/>
            <a:ext cx="5410048" cy="1234440"/>
          </a:xfrm>
          <a:prstGeom prst="roundRect">
            <a:avLst>
              <a:gd name="adj" fmla="val 7407"/>
            </a:avLst>
          </a:prstGeom>
          <a:solidFill>
            <a:srgbClr val="2A2F37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514600"/>
            <a:ext cx="548640" cy="54864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8" name="Image 0" descr="/tmp/aura_ppt/icons/FaGaugeHigh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" y="2585923"/>
            <a:ext cx="405994" cy="4059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2450592"/>
            <a:ext cx="422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Motion Accuracy (mm)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463040" y="2999232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 ISO 9283:1998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02920" y="3703320"/>
            <a:ext cx="5410048" cy="1234440"/>
          </a:xfrm>
          <a:prstGeom prst="roundRect">
            <a:avLst>
              <a:gd name="adj" fmla="val 7407"/>
            </a:avLst>
          </a:prstGeom>
          <a:solidFill>
            <a:srgbClr val="2A2F37"/>
          </a:solidFill>
          <a:ln/>
        </p:spPr>
      </p:sp>
      <p:sp>
        <p:nvSpPr>
          <p:cNvPr id="12" name="Shape 9"/>
          <p:cNvSpPr/>
          <p:nvPr/>
        </p:nvSpPr>
        <p:spPr>
          <a:xfrm>
            <a:off x="731520" y="3931920"/>
            <a:ext cx="548640" cy="54864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13" name="Image 1" descr="/tmp/aura_ppt/icons/FaLayerGroup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" y="4003243"/>
            <a:ext cx="405994" cy="40599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63040" y="3867912"/>
            <a:ext cx="422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Segmentation Accuracy (%)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1463040" y="4416552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 COCO Protocol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502920" y="5120640"/>
            <a:ext cx="5410048" cy="1234440"/>
          </a:xfrm>
          <a:prstGeom prst="roundRect">
            <a:avLst>
              <a:gd name="adj" fmla="val 7407"/>
            </a:avLst>
          </a:prstGeom>
          <a:solidFill>
            <a:srgbClr val="2A2F37"/>
          </a:solidFill>
          <a:ln/>
        </p:spPr>
      </p:sp>
      <p:sp>
        <p:nvSpPr>
          <p:cNvPr id="17" name="Shape 13"/>
          <p:cNvSpPr/>
          <p:nvPr/>
        </p:nvSpPr>
        <p:spPr>
          <a:xfrm>
            <a:off x="731520" y="5349240"/>
            <a:ext cx="548640" cy="54864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18" name="Image 2" descr="/tmp/aura_ppt/icons/FaSprayCan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" y="5420563"/>
            <a:ext cx="405994" cy="40599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5285232"/>
            <a:ext cx="422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Spray &amp; Coverage Uniformity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1463040" y="5833872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 ASTM D823</a:t>
            </a:r>
            <a:endParaRPr lang="en-US" sz="2400" dirty="0"/>
          </a:p>
        </p:txBody>
      </p:sp>
      <p:sp>
        <p:nvSpPr>
          <p:cNvPr id="21" name="Text 16"/>
          <p:cNvSpPr/>
          <p:nvPr/>
        </p:nvSpPr>
        <p:spPr>
          <a:xfrm>
            <a:off x="6278728" y="1783080"/>
            <a:ext cx="541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QUALITATIVE</a:t>
            </a:r>
            <a:endParaRPr lang="en-US" sz="2400" dirty="0"/>
          </a:p>
        </p:txBody>
      </p:sp>
      <p:sp>
        <p:nvSpPr>
          <p:cNvPr id="22" name="Shape 17"/>
          <p:cNvSpPr/>
          <p:nvPr/>
        </p:nvSpPr>
        <p:spPr>
          <a:xfrm>
            <a:off x="6278728" y="2286000"/>
            <a:ext cx="5410048" cy="1234440"/>
          </a:xfrm>
          <a:prstGeom prst="roundRect">
            <a:avLst>
              <a:gd name="adj" fmla="val 7407"/>
            </a:avLst>
          </a:prstGeom>
          <a:solidFill>
            <a:srgbClr val="2A2F37"/>
          </a:solidFill>
          <a:ln/>
        </p:spPr>
      </p:sp>
      <p:sp>
        <p:nvSpPr>
          <p:cNvPr id="23" name="Shape 18"/>
          <p:cNvSpPr/>
          <p:nvPr/>
        </p:nvSpPr>
        <p:spPr>
          <a:xfrm>
            <a:off x="6507328" y="2514600"/>
            <a:ext cx="548640" cy="54864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24" name="Image 3" descr="/tmp/aura_ppt/icons/FaPalette_acce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8651" y="2585923"/>
            <a:ext cx="405994" cy="40599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38848" y="2450592"/>
            <a:ext cx="422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Color-Recommendation Quality</a:t>
            </a:r>
            <a:endParaRPr lang="en-US" sz="2400" dirty="0"/>
          </a:p>
        </p:txBody>
      </p:sp>
      <p:sp>
        <p:nvSpPr>
          <p:cNvPr id="26" name="Text 20"/>
          <p:cNvSpPr/>
          <p:nvPr/>
        </p:nvSpPr>
        <p:spPr>
          <a:xfrm>
            <a:off x="7238848" y="2999232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 ISO/IEC 25010</a:t>
            </a:r>
            <a:endParaRPr lang="en-US" sz="2400" dirty="0"/>
          </a:p>
        </p:txBody>
      </p:sp>
      <p:sp>
        <p:nvSpPr>
          <p:cNvPr id="27" name="Shape 21"/>
          <p:cNvSpPr/>
          <p:nvPr/>
        </p:nvSpPr>
        <p:spPr>
          <a:xfrm>
            <a:off x="6278728" y="3703320"/>
            <a:ext cx="5410048" cy="1234440"/>
          </a:xfrm>
          <a:prstGeom prst="roundRect">
            <a:avLst>
              <a:gd name="adj" fmla="val 7407"/>
            </a:avLst>
          </a:prstGeom>
          <a:solidFill>
            <a:srgbClr val="2A2F37"/>
          </a:solidFill>
          <a:ln/>
        </p:spPr>
      </p:sp>
      <p:sp>
        <p:nvSpPr>
          <p:cNvPr id="28" name="Shape 22"/>
          <p:cNvSpPr/>
          <p:nvPr/>
        </p:nvSpPr>
        <p:spPr>
          <a:xfrm>
            <a:off x="6507328" y="3931920"/>
            <a:ext cx="548640" cy="54864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29" name="Image 4" descr="/tmp/aura_ppt/icons/FaListCheck_accen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8651" y="4003243"/>
            <a:ext cx="405994" cy="40599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238848" y="3867912"/>
            <a:ext cx="422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 Inspection</a:t>
            </a:r>
            <a:endParaRPr lang="en-US" sz="2400" dirty="0"/>
          </a:p>
        </p:txBody>
      </p:sp>
      <p:sp>
        <p:nvSpPr>
          <p:cNvPr id="31" name="Text 24"/>
          <p:cNvSpPr/>
          <p:nvPr/>
        </p:nvSpPr>
        <p:spPr>
          <a:xfrm>
            <a:off x="7238848" y="4416552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1–5 rating scale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200" kern="0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0042855" y="2926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 / 18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111858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Testing &amp; Analysis Plan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41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TESTING PHASES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02920" y="2286000"/>
            <a:ext cx="5410048" cy="713232"/>
          </a:xfrm>
          <a:prstGeom prst="roundRect">
            <a:avLst>
              <a:gd name="adj" fmla="val 12821"/>
            </a:avLst>
          </a:prstGeom>
          <a:solidFill>
            <a:srgbClr val="2A2F37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423160"/>
            <a:ext cx="438912" cy="43891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423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1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80160" y="2286000"/>
            <a:ext cx="444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Mechanical &amp; Motion Testing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02920" y="3136392"/>
            <a:ext cx="5410048" cy="713232"/>
          </a:xfrm>
          <a:prstGeom prst="roundRect">
            <a:avLst>
              <a:gd name="adj" fmla="val 12821"/>
            </a:avLst>
          </a:prstGeom>
          <a:solidFill>
            <a:srgbClr val="2A2F37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3273552"/>
            <a:ext cx="438912" cy="43891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273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1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80160" y="3136392"/>
            <a:ext cx="444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Segmentation Testing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02920" y="3986784"/>
            <a:ext cx="5410048" cy="713232"/>
          </a:xfrm>
          <a:prstGeom prst="roundRect">
            <a:avLst>
              <a:gd name="adj" fmla="val 12821"/>
            </a:avLst>
          </a:prstGeom>
          <a:solidFill>
            <a:srgbClr val="2A2F37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4123944"/>
            <a:ext cx="438912" cy="43891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1239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1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80160" y="3986784"/>
            <a:ext cx="444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Spray System Testing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02920" y="4837176"/>
            <a:ext cx="5410048" cy="713232"/>
          </a:xfrm>
          <a:prstGeom prst="roundRect">
            <a:avLst>
              <a:gd name="adj" fmla="val 12821"/>
            </a:avLst>
          </a:prstGeom>
          <a:solidFill>
            <a:srgbClr val="2A2F37"/>
          </a:solidFill>
          <a:ln/>
        </p:spPr>
      </p:sp>
      <p:sp>
        <p:nvSpPr>
          <p:cNvPr id="19" name="Shape 17"/>
          <p:cNvSpPr/>
          <p:nvPr/>
        </p:nvSpPr>
        <p:spPr>
          <a:xfrm>
            <a:off x="685800" y="4974336"/>
            <a:ext cx="438912" cy="43891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9743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1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80160" y="4837176"/>
            <a:ext cx="444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Color Recommendation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502920" y="5687568"/>
            <a:ext cx="5410048" cy="713232"/>
          </a:xfrm>
          <a:prstGeom prst="roundRect">
            <a:avLst>
              <a:gd name="adj" fmla="val 12821"/>
            </a:avLst>
          </a:prstGeom>
          <a:solidFill>
            <a:srgbClr val="2A2F37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5824728"/>
            <a:ext cx="438912" cy="43891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58247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1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280160" y="5687568"/>
            <a:ext cx="444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Mural Integration Test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278728" y="1783080"/>
            <a:ext cx="541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spc="100" kern="0" dirty="0">
                <a:solidFill>
                  <a:srgbClr val="C9A22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ANALYSIS APPROACH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6278728" y="2286000"/>
            <a:ext cx="5410048" cy="1234440"/>
          </a:xfrm>
          <a:prstGeom prst="roundRect">
            <a:avLst>
              <a:gd name="adj" fmla="val 7407"/>
            </a:avLst>
          </a:prstGeom>
          <a:solidFill>
            <a:srgbClr val="2A2F37"/>
          </a:solidFill>
          <a:ln/>
        </p:spPr>
      </p:sp>
      <p:sp>
        <p:nvSpPr>
          <p:cNvPr id="28" name="Shape 26"/>
          <p:cNvSpPr/>
          <p:nvPr/>
        </p:nvSpPr>
        <p:spPr>
          <a:xfrm>
            <a:off x="6507328" y="2514600"/>
            <a:ext cx="548640" cy="54864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29" name="Image 0" descr="/tmp/aura_ppt/icons/FaChartLine_ac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8651" y="2585923"/>
            <a:ext cx="405994" cy="405994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7238848" y="2450592"/>
            <a:ext cx="422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Quantitative Statistics</a:t>
            </a:r>
            <a:endParaRPr lang="en-US" sz="2400" dirty="0"/>
          </a:p>
        </p:txBody>
      </p:sp>
      <p:sp>
        <p:nvSpPr>
          <p:cNvPr id="31" name="Text 28"/>
          <p:cNvSpPr/>
          <p:nvPr/>
        </p:nvSpPr>
        <p:spPr>
          <a:xfrm>
            <a:off x="7238848" y="2999232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Mean, SD, thresholds</a:t>
            </a:r>
            <a:endParaRPr lang="en-US" sz="2400" dirty="0"/>
          </a:p>
        </p:txBody>
      </p:sp>
      <p:sp>
        <p:nvSpPr>
          <p:cNvPr id="32" name="Shape 29"/>
          <p:cNvSpPr/>
          <p:nvPr/>
        </p:nvSpPr>
        <p:spPr>
          <a:xfrm>
            <a:off x="6278728" y="3703320"/>
            <a:ext cx="5410048" cy="1234440"/>
          </a:xfrm>
          <a:prstGeom prst="roundRect">
            <a:avLst>
              <a:gd name="adj" fmla="val 7407"/>
            </a:avLst>
          </a:prstGeom>
          <a:solidFill>
            <a:srgbClr val="2A2F37"/>
          </a:solidFill>
          <a:ln/>
        </p:spPr>
      </p:sp>
      <p:sp>
        <p:nvSpPr>
          <p:cNvPr id="33" name="Shape 30"/>
          <p:cNvSpPr/>
          <p:nvPr/>
        </p:nvSpPr>
        <p:spPr>
          <a:xfrm>
            <a:off x="6507328" y="3931920"/>
            <a:ext cx="548640" cy="54864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34" name="Image 1" descr="/tmp/aura_ppt/icons/FaListCheck_acc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651" y="4003243"/>
            <a:ext cx="405994" cy="405994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7238848" y="3867912"/>
            <a:ext cx="422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Qualitative Rating Analysis</a:t>
            </a:r>
            <a:endParaRPr lang="en-US" sz="2400" dirty="0"/>
          </a:p>
        </p:txBody>
      </p:sp>
      <p:sp>
        <p:nvSpPr>
          <p:cNvPr id="36" name="Text 32"/>
          <p:cNvSpPr/>
          <p:nvPr/>
        </p:nvSpPr>
        <p:spPr>
          <a:xfrm>
            <a:off x="7238848" y="4416552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Evaluator 1–5 scores</a:t>
            </a:r>
            <a:endParaRPr lang="en-US" sz="2400" dirty="0"/>
          </a:p>
        </p:txBody>
      </p:sp>
      <p:sp>
        <p:nvSpPr>
          <p:cNvPr id="37" name="Shape 33"/>
          <p:cNvSpPr/>
          <p:nvPr/>
        </p:nvSpPr>
        <p:spPr>
          <a:xfrm>
            <a:off x="6278728" y="5120640"/>
            <a:ext cx="5410048" cy="1234440"/>
          </a:xfrm>
          <a:prstGeom prst="roundRect">
            <a:avLst>
              <a:gd name="adj" fmla="val 7407"/>
            </a:avLst>
          </a:prstGeom>
          <a:solidFill>
            <a:srgbClr val="2A2F37"/>
          </a:solidFill>
          <a:ln/>
        </p:spPr>
      </p:sp>
      <p:sp>
        <p:nvSpPr>
          <p:cNvPr id="38" name="Shape 34"/>
          <p:cNvSpPr/>
          <p:nvPr/>
        </p:nvSpPr>
        <p:spPr>
          <a:xfrm>
            <a:off x="6507328" y="5349240"/>
            <a:ext cx="548640" cy="548640"/>
          </a:xfrm>
          <a:prstGeom prst="ellipse">
            <a:avLst/>
          </a:prstGeom>
          <a:solidFill>
            <a:srgbClr val="333A44"/>
          </a:solidFill>
          <a:ln/>
        </p:spPr>
      </p:sp>
      <p:pic>
        <p:nvPicPr>
          <p:cNvPr id="39" name="Image 2" descr="/tmp/aura_ppt/icons/FaRecycle_acc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651" y="5420563"/>
            <a:ext cx="405994" cy="405994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7238848" y="5285232"/>
            <a:ext cx="422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5F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Iterative Design Refinement</a:t>
            </a:r>
            <a:endParaRPr lang="en-US" sz="2400" dirty="0"/>
          </a:p>
        </p:txBody>
      </p:sp>
      <p:sp>
        <p:nvSpPr>
          <p:cNvPr id="41" name="Text 36"/>
          <p:cNvSpPr/>
          <p:nvPr/>
        </p:nvSpPr>
        <p:spPr>
          <a:xfrm>
            <a:off x="7238848" y="5833872"/>
            <a:ext cx="422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ADB3B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Loop results into redesign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2026-08-05T15:39:52Z</dcterms:created>
  <dcterms:modified xsi:type="dcterms:W3CDTF">2026-08-05T15:39:52Z</dcterms:modified>
</cp:coreProperties>
</file>